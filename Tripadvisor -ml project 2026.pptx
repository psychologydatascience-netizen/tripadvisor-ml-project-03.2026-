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diagrams/data5.xml" ContentType="application/vnd.openxmlformats-officedocument.drawingml.diagramData+xml"/>
  <Override PartName="/ppt/diagrams/layout5.xml" ContentType="application/vnd.openxmlformats-officedocument.drawingml.diagramLayout+xml"/>
  <Override PartName="/ppt/diagrams/quickStyle5.xml" ContentType="application/vnd.openxmlformats-officedocument.drawingml.diagramStyle+xml"/>
  <Override PartName="/ppt/diagrams/colors5.xml" ContentType="application/vnd.openxmlformats-officedocument.drawingml.diagramColors+xml"/>
  <Override PartName="/ppt/diagrams/drawing5.xml" ContentType="application/vnd.ms-office.drawingml.diagramDrawing+xml"/>
  <Override PartName="/ppt/diagrams/data6.xml" ContentType="application/vnd.openxmlformats-officedocument.drawingml.diagramData+xml"/>
  <Override PartName="/ppt/diagrams/layout6.xml" ContentType="application/vnd.openxmlformats-officedocument.drawingml.diagramLayout+xml"/>
  <Override PartName="/ppt/diagrams/quickStyle6.xml" ContentType="application/vnd.openxmlformats-officedocument.drawingml.diagramStyle+xml"/>
  <Override PartName="/ppt/diagrams/colors6.xml" ContentType="application/vnd.openxmlformats-officedocument.drawingml.diagramColors+xml"/>
  <Override PartName="/ppt/diagrams/drawing6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64" r:id="rId3"/>
    <p:sldId id="265" r:id="rId4"/>
    <p:sldId id="257" r:id="rId5"/>
    <p:sldId id="258" r:id="rId6"/>
    <p:sldId id="259" r:id="rId7"/>
    <p:sldId id="260" r:id="rId8"/>
    <p:sldId id="266" r:id="rId9"/>
    <p:sldId id="262" r:id="rId10"/>
    <p:sldId id="263" r:id="rId11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–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–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he-IL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862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Successful restaurants</a:t>
            </a:r>
            <a:r>
              <a:rPr lang="en-US" baseline="0"/>
              <a:t> rates</a:t>
            </a:r>
            <a:endParaRPr lang="en-US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862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Successful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5FFB-472F-9CB9-9392FD2F719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5FFB-472F-9CB9-9392FD2F7195}"/>
              </c:ext>
            </c:extLst>
          </c:dPt>
          <c:dLbls>
            <c:spPr>
              <a:solidFill>
                <a:srgbClr val="FFFFFF"/>
              </a:solidFill>
              <a:ln>
                <a:solidFill>
                  <a:srgbClr val="000000">
                    <a:lumMod val="25000"/>
                    <a:lumOff val="75000"/>
                  </a:srgb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IL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Sheet1!$A$2:$A$3</c:f>
              <c:strCache>
                <c:ptCount val="2"/>
                <c:pt idx="0">
                  <c:v>Great</c:v>
                </c:pt>
                <c:pt idx="1">
                  <c:v>Not Great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222081</c:v>
                </c:pt>
                <c:pt idx="1">
                  <c:v>337009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20C-4FC0-971D-E256D1CB77B2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Bad</c:v>
                </c:pt>
              </c:strCache>
            </c:strRef>
          </c:tx>
          <c:dPt>
            <c:idx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5FFB-472F-9CB9-9392FD2F7195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5FFB-472F-9CB9-9392FD2F7195}"/>
              </c:ext>
            </c:extLst>
          </c:dPt>
          <c:dLbls>
            <c:spPr>
              <a:solidFill>
                <a:srgbClr val="FFFFFF"/>
              </a:solidFill>
              <a:ln>
                <a:solidFill>
                  <a:srgbClr val="000000">
                    <a:lumMod val="25000"/>
                    <a:lumOff val="75000"/>
                  </a:srgbClr>
                </a:solidFill>
              </a:ln>
              <a:effectLst/>
            </c:spPr>
            <c:txPr>
              <a:bodyPr rot="0" spcFirstLastPara="1" vertOverflow="clip" horzOverflow="clip" vert="horz" wrap="square" lIns="38100" tIns="19050" rIns="38100" bIns="19050" anchor="ctr" anchorCtr="1">
                <a:spAutoFit/>
              </a:bodyPr>
              <a:lstStyle/>
              <a:p>
                <a:pPr>
                  <a:defRPr sz="1197" b="0" i="0" u="none" strike="noStrike" kern="1200" baseline="0">
                    <a:solidFill>
                      <a:schemeClr val="dk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IL"/>
              </a:p>
            </c:txPr>
            <c:dLblPos val="outEnd"/>
            <c:showLegendKey val="0"/>
            <c:showVal val="0"/>
            <c:showCatName val="1"/>
            <c:showSerName val="0"/>
            <c:showPercent val="1"/>
            <c:showBubbleSize val="0"/>
            <c:showLeaderLines val="0"/>
            <c:extLst>
              <c:ext xmlns:c15="http://schemas.microsoft.com/office/drawing/2012/chart" uri="{CE6537A1-D6FC-4f65-9D91-7224C49458BB}">
                <c15:spPr xmlns:c15="http://schemas.microsoft.com/office/drawing/2012/chart">
                  <a:prstGeom prst="wedgeRectCallout">
                    <a:avLst/>
                  </a:prstGeom>
                  <a:noFill/>
                  <a:ln>
                    <a:noFill/>
                  </a:ln>
                </c15:spPr>
              </c:ext>
            </c:extLst>
          </c:dLbls>
          <c:cat>
            <c:strRef>
              <c:f>Sheet1!$A$2:$A$3</c:f>
              <c:strCache>
                <c:ptCount val="2"/>
                <c:pt idx="0">
                  <c:v>Great</c:v>
                </c:pt>
                <c:pt idx="1">
                  <c:v>Not Great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60</c:v>
                </c:pt>
                <c:pt idx="1">
                  <c:v>50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1-720C-4FC0-971D-E256D1CB77B2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0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197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IL"/>
        </a:p>
      </c:txPr>
    </c:legend>
    <c:plotVisOnly val="1"/>
    <c:dispBlanksAs val="gap"/>
    <c:showDLblsOverMax val="0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</c:chart>
  <c:spPr>
    <a:noFill/>
    <a:ln>
      <a:noFill/>
    </a:ln>
    <a:effectLst/>
  </c:spPr>
  <c:txPr>
    <a:bodyPr/>
    <a:lstStyle/>
    <a:p>
      <a:pPr>
        <a:defRPr/>
      </a:pPr>
      <a:endParaRPr lang="en-IL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acrossLinear" id="2">
  <a:schemeClr val="accent1"/>
  <a:schemeClr val="accent2"/>
  <a:schemeClr val="accent3"/>
  <a:schemeClr val="accent4"/>
  <a:schemeClr val="accent5"/>
  <a:schemeClr val="accent6"/>
</cs:colorStyle>
</file>

<file path=ppt/charts/style1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33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33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1197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1197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197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862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1197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_rels/data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ata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ata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ata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/Relationships>
</file>

<file path=ppt/diagrams/_rels/data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8.svg"/></Relationships>
</file>

<file path=ppt/diagrams/_rels/data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/Relationships>
</file>

<file path=ppt/diagrams/_rels/drawing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image" Target="../media/image1.svg"/></Relationships>
</file>

<file path=ppt/diagrams/_rels/drawing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2" Type="http://schemas.openxmlformats.org/officeDocument/2006/relationships/image" Target="../media/image4.svg"/><Relationship Id="rId1" Type="http://schemas.openxmlformats.org/officeDocument/2006/relationships/image" Target="../media/image3.svg"/></Relationships>
</file>

<file path=ppt/diagrams/_rels/drawing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svg"/><Relationship Id="rId1" Type="http://schemas.openxmlformats.org/officeDocument/2006/relationships/image" Target="../media/image6.svg"/></Relationships>
</file>

<file path=ppt/diagrams/_rels/drawing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svg"/><Relationship Id="rId1" Type="http://schemas.openxmlformats.org/officeDocument/2006/relationships/image" Target="../media/image8.svg"/></Relationships>
</file>

<file path=ppt/diagrams/_rels/drawing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svg"/><Relationship Id="rId2" Type="http://schemas.openxmlformats.org/officeDocument/2006/relationships/image" Target="../media/image11.svg"/><Relationship Id="rId1" Type="http://schemas.openxmlformats.org/officeDocument/2006/relationships/image" Target="../media/image8.svg"/></Relationships>
</file>

<file path=ppt/diagrams/_rels/drawing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svg"/><Relationship Id="rId2" Type="http://schemas.openxmlformats.org/officeDocument/2006/relationships/image" Target="../media/image15.svg"/><Relationship Id="rId1" Type="http://schemas.openxmlformats.org/officeDocument/2006/relationships/image" Target="../media/image14.sv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18/5/colors/Iconchunking_neutralicon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18/5/colors/Iconchunking_neutralicontext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bg1"/>
    </dgm:fillClrLst>
    <dgm:linClrLst meth="repeat">
      <a:schemeClr val="lt1">
        <a:alpha val="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bg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5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6.xml><?xml version="1.0" encoding="utf-8"?>
<dgm:colorsDef xmlns:dgm="http://schemas.openxmlformats.org/drawingml/2006/diagram" xmlns:a="http://schemas.openxmlformats.org/drawingml/2006/main" uniqueId="urn:microsoft.com/office/officeart/2018/5/colors/Iconchunking_neutralbg_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>
        <a:alpha val="0"/>
      </a:schemeClr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bg1">
        <a:lumMod val="95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25E7D0F-6C14-44D2-BA9A-4951EBEB34D3}" type="doc">
      <dgm:prSet loTypeId="urn:microsoft.com/office/officeart/2018/5/layout/IconCircleLabelList" loCatId="icon" qsTypeId="urn:microsoft.com/office/officeart/2005/8/quickstyle/simple1" qsCatId="simple" csTypeId="urn:microsoft.com/office/officeart/2018/5/colors/Iconchunking_neutralicon_colorful1" csCatId="colorful" phldr="1"/>
      <dgm:spPr/>
      <dgm:t>
        <a:bodyPr/>
        <a:lstStyle/>
        <a:p>
          <a:endParaRPr lang="en-US"/>
        </a:p>
      </dgm:t>
    </dgm:pt>
    <dgm:pt modelId="{0E3B2138-7A4D-49F0-88D8-60CBE61521C7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dirty="0"/>
            <a:t>Individual Investors</a:t>
          </a:r>
          <a:endParaRPr lang="en-US" dirty="0"/>
        </a:p>
      </dgm:t>
    </dgm:pt>
    <dgm:pt modelId="{80638985-46E5-4904-849A-7F323AE1416B}" type="parTrans" cxnId="{5A72C69E-A7ED-4B9F-B21C-1D28B07C63F2}">
      <dgm:prSet/>
      <dgm:spPr/>
      <dgm:t>
        <a:bodyPr/>
        <a:lstStyle/>
        <a:p>
          <a:endParaRPr lang="en-US"/>
        </a:p>
      </dgm:t>
    </dgm:pt>
    <dgm:pt modelId="{C5B7EA15-6EE0-4A30-AD4C-5323B708D2BB}" type="sibTrans" cxnId="{5A72C69E-A7ED-4B9F-B21C-1D28B07C63F2}">
      <dgm:prSet/>
      <dgm:spPr/>
      <dgm:t>
        <a:bodyPr/>
        <a:lstStyle/>
        <a:p>
          <a:endParaRPr lang="en-US"/>
        </a:p>
      </dgm:t>
    </dgm:pt>
    <dgm:pt modelId="{EE3E4463-9FB4-4716-A764-F977B5318885}">
      <dgm:prSet/>
      <dgm:spPr/>
      <dgm:t>
        <a:bodyPr/>
        <a:lstStyle/>
        <a:p>
          <a:pPr>
            <a:lnSpc>
              <a:spcPct val="100000"/>
            </a:lnSpc>
            <a:defRPr cap="all"/>
          </a:pPr>
          <a:r>
            <a:rPr lang="en-US" b="1" dirty="0"/>
            <a:t>Banks, Insurance companies and Lenders</a:t>
          </a:r>
        </a:p>
      </dgm:t>
    </dgm:pt>
    <dgm:pt modelId="{C80951A3-E312-4352-A135-140824760FB2}" type="parTrans" cxnId="{A71107C9-2F47-4161-BD62-2191D1D4A1E9}">
      <dgm:prSet/>
      <dgm:spPr/>
      <dgm:t>
        <a:bodyPr/>
        <a:lstStyle/>
        <a:p>
          <a:endParaRPr lang="en-US"/>
        </a:p>
      </dgm:t>
    </dgm:pt>
    <dgm:pt modelId="{3A42A3A4-0B12-4078-8F56-A1DF08445567}" type="sibTrans" cxnId="{A71107C9-2F47-4161-BD62-2191D1D4A1E9}">
      <dgm:prSet/>
      <dgm:spPr/>
      <dgm:t>
        <a:bodyPr/>
        <a:lstStyle/>
        <a:p>
          <a:endParaRPr lang="en-US"/>
        </a:p>
      </dgm:t>
    </dgm:pt>
    <dgm:pt modelId="{A0EF6A2A-B4F7-4E5A-B211-E1EE0ADA7201}" type="pres">
      <dgm:prSet presAssocID="{425E7D0F-6C14-44D2-BA9A-4951EBEB34D3}" presName="root" presStyleCnt="0">
        <dgm:presLayoutVars>
          <dgm:dir/>
          <dgm:resizeHandles val="exact"/>
        </dgm:presLayoutVars>
      </dgm:prSet>
      <dgm:spPr/>
    </dgm:pt>
    <dgm:pt modelId="{D750F037-4766-486D-90FF-EB8F3CBF0D1A}" type="pres">
      <dgm:prSet presAssocID="{0E3B2138-7A4D-49F0-88D8-60CBE61521C7}" presName="compNode" presStyleCnt="0"/>
      <dgm:spPr/>
    </dgm:pt>
    <dgm:pt modelId="{BA3F5DF3-C4CE-4E5A-AE72-944873FF6A14}" type="pres">
      <dgm:prSet presAssocID="{0E3B2138-7A4D-49F0-88D8-60CBE61521C7}" presName="iconBgRect" presStyleLbl="bgShp" presStyleIdx="0" presStyleCnt="2"/>
      <dgm:spPr/>
    </dgm:pt>
    <dgm:pt modelId="{55958DB1-68FC-430B-90F0-0B7E9AFA3AE2}" type="pres">
      <dgm:prSet presAssocID="{0E3B2138-7A4D-49F0-88D8-60CBE61521C7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roup"/>
        </a:ext>
      </dgm:extLst>
    </dgm:pt>
    <dgm:pt modelId="{6D1704B6-E9F4-4D3D-AE56-9531024384E8}" type="pres">
      <dgm:prSet presAssocID="{0E3B2138-7A4D-49F0-88D8-60CBE61521C7}" presName="spaceRect" presStyleCnt="0"/>
      <dgm:spPr/>
    </dgm:pt>
    <dgm:pt modelId="{05393D0F-B714-459C-BBB7-58B78701ACFA}" type="pres">
      <dgm:prSet presAssocID="{0E3B2138-7A4D-49F0-88D8-60CBE61521C7}" presName="textRect" presStyleLbl="revTx" presStyleIdx="0" presStyleCnt="2">
        <dgm:presLayoutVars>
          <dgm:chMax val="1"/>
          <dgm:chPref val="1"/>
        </dgm:presLayoutVars>
      </dgm:prSet>
      <dgm:spPr/>
    </dgm:pt>
    <dgm:pt modelId="{C058C870-2BB0-4FF9-A52D-A4F9132F8EC1}" type="pres">
      <dgm:prSet presAssocID="{C5B7EA15-6EE0-4A30-AD4C-5323B708D2BB}" presName="sibTrans" presStyleCnt="0"/>
      <dgm:spPr/>
    </dgm:pt>
    <dgm:pt modelId="{0A1FDF40-4F88-418F-B9CB-439A204CFC6C}" type="pres">
      <dgm:prSet presAssocID="{EE3E4463-9FB4-4716-A764-F977B5318885}" presName="compNode" presStyleCnt="0"/>
      <dgm:spPr/>
    </dgm:pt>
    <dgm:pt modelId="{8EB16EF0-1715-45F9-BC50-20E6817AAEBD}" type="pres">
      <dgm:prSet presAssocID="{EE3E4463-9FB4-4716-A764-F977B5318885}" presName="iconBgRect" presStyleLbl="bgShp" presStyleIdx="1" presStyleCnt="2"/>
      <dgm:spPr/>
    </dgm:pt>
    <dgm:pt modelId="{343AB1A3-C287-4369-AEAD-47DDFC04D1C4}" type="pres">
      <dgm:prSet presAssocID="{EE3E4463-9FB4-4716-A764-F977B5318885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uilding"/>
        </a:ext>
      </dgm:extLst>
    </dgm:pt>
    <dgm:pt modelId="{E414B71E-E12A-447A-A59C-5DE4B685055B}" type="pres">
      <dgm:prSet presAssocID="{EE3E4463-9FB4-4716-A764-F977B5318885}" presName="spaceRect" presStyleCnt="0"/>
      <dgm:spPr/>
    </dgm:pt>
    <dgm:pt modelId="{A50F958D-918D-4EFA-84B2-DE19A23386DA}" type="pres">
      <dgm:prSet presAssocID="{EE3E4463-9FB4-4716-A764-F977B5318885}" presName="textRect" presStyleLbl="revTx" presStyleIdx="1" presStyleCnt="2">
        <dgm:presLayoutVars>
          <dgm:chMax val="1"/>
          <dgm:chPref val="1"/>
        </dgm:presLayoutVars>
      </dgm:prSet>
      <dgm:spPr/>
    </dgm:pt>
  </dgm:ptLst>
  <dgm:cxnLst>
    <dgm:cxn modelId="{C2877C42-AE2D-4352-BE1B-7E4B22FE2D03}" type="presOf" srcId="{0E3B2138-7A4D-49F0-88D8-60CBE61521C7}" destId="{05393D0F-B714-459C-BBB7-58B78701ACFA}" srcOrd="0" destOrd="0" presId="urn:microsoft.com/office/officeart/2018/5/layout/IconCircleLabelList"/>
    <dgm:cxn modelId="{972A6D63-A8AC-4BCF-9336-A406C9F55858}" type="presOf" srcId="{425E7D0F-6C14-44D2-BA9A-4951EBEB34D3}" destId="{A0EF6A2A-B4F7-4E5A-B211-E1EE0ADA7201}" srcOrd="0" destOrd="0" presId="urn:microsoft.com/office/officeart/2018/5/layout/IconCircleLabelList"/>
    <dgm:cxn modelId="{5A72C69E-A7ED-4B9F-B21C-1D28B07C63F2}" srcId="{425E7D0F-6C14-44D2-BA9A-4951EBEB34D3}" destId="{0E3B2138-7A4D-49F0-88D8-60CBE61521C7}" srcOrd="0" destOrd="0" parTransId="{80638985-46E5-4904-849A-7F323AE1416B}" sibTransId="{C5B7EA15-6EE0-4A30-AD4C-5323B708D2BB}"/>
    <dgm:cxn modelId="{A71107C9-2F47-4161-BD62-2191D1D4A1E9}" srcId="{425E7D0F-6C14-44D2-BA9A-4951EBEB34D3}" destId="{EE3E4463-9FB4-4716-A764-F977B5318885}" srcOrd="1" destOrd="0" parTransId="{C80951A3-E312-4352-A135-140824760FB2}" sibTransId="{3A42A3A4-0B12-4078-8F56-A1DF08445567}"/>
    <dgm:cxn modelId="{FF94D3D8-1FEE-4BC0-B148-42AD39B01917}" type="presOf" srcId="{EE3E4463-9FB4-4716-A764-F977B5318885}" destId="{A50F958D-918D-4EFA-84B2-DE19A23386DA}" srcOrd="0" destOrd="0" presId="urn:microsoft.com/office/officeart/2018/5/layout/IconCircleLabelList"/>
    <dgm:cxn modelId="{92B3EFD0-AF4F-4D19-8CE0-DAFE2964D2BD}" type="presParOf" srcId="{A0EF6A2A-B4F7-4E5A-B211-E1EE0ADA7201}" destId="{D750F037-4766-486D-90FF-EB8F3CBF0D1A}" srcOrd="0" destOrd="0" presId="urn:microsoft.com/office/officeart/2018/5/layout/IconCircleLabelList"/>
    <dgm:cxn modelId="{769A5E0E-1C1F-4703-848C-B6A0BCB03357}" type="presParOf" srcId="{D750F037-4766-486D-90FF-EB8F3CBF0D1A}" destId="{BA3F5DF3-C4CE-4E5A-AE72-944873FF6A14}" srcOrd="0" destOrd="0" presId="urn:microsoft.com/office/officeart/2018/5/layout/IconCircleLabelList"/>
    <dgm:cxn modelId="{F76419D5-0E26-4AEB-A1DF-3C7382F63861}" type="presParOf" srcId="{D750F037-4766-486D-90FF-EB8F3CBF0D1A}" destId="{55958DB1-68FC-430B-90F0-0B7E9AFA3AE2}" srcOrd="1" destOrd="0" presId="urn:microsoft.com/office/officeart/2018/5/layout/IconCircleLabelList"/>
    <dgm:cxn modelId="{B23302C1-126B-4E32-A499-0B74B13A5152}" type="presParOf" srcId="{D750F037-4766-486D-90FF-EB8F3CBF0D1A}" destId="{6D1704B6-E9F4-4D3D-AE56-9531024384E8}" srcOrd="2" destOrd="0" presId="urn:microsoft.com/office/officeart/2018/5/layout/IconCircleLabelList"/>
    <dgm:cxn modelId="{53F1E743-40D2-4E31-A318-F8B6E0137DEA}" type="presParOf" srcId="{D750F037-4766-486D-90FF-EB8F3CBF0D1A}" destId="{05393D0F-B714-459C-BBB7-58B78701ACFA}" srcOrd="3" destOrd="0" presId="urn:microsoft.com/office/officeart/2018/5/layout/IconCircleLabelList"/>
    <dgm:cxn modelId="{946673A5-DED0-4EBB-8463-B5AA4F57FE9D}" type="presParOf" srcId="{A0EF6A2A-B4F7-4E5A-B211-E1EE0ADA7201}" destId="{C058C870-2BB0-4FF9-A52D-A4F9132F8EC1}" srcOrd="1" destOrd="0" presId="urn:microsoft.com/office/officeart/2018/5/layout/IconCircleLabelList"/>
    <dgm:cxn modelId="{654A6B22-143B-49A3-8495-97EB77242C72}" type="presParOf" srcId="{A0EF6A2A-B4F7-4E5A-B211-E1EE0ADA7201}" destId="{0A1FDF40-4F88-418F-B9CB-439A204CFC6C}" srcOrd="2" destOrd="0" presId="urn:microsoft.com/office/officeart/2018/5/layout/IconCircleLabelList"/>
    <dgm:cxn modelId="{BD78AEA9-F325-441B-92AE-72B983AD5368}" type="presParOf" srcId="{0A1FDF40-4F88-418F-B9CB-439A204CFC6C}" destId="{8EB16EF0-1715-45F9-BC50-20E6817AAEBD}" srcOrd="0" destOrd="0" presId="urn:microsoft.com/office/officeart/2018/5/layout/IconCircleLabelList"/>
    <dgm:cxn modelId="{4FFBA5A6-9129-47B8-B1BC-84C6A8BB0A2E}" type="presParOf" srcId="{0A1FDF40-4F88-418F-B9CB-439A204CFC6C}" destId="{343AB1A3-C287-4369-AEAD-47DDFC04D1C4}" srcOrd="1" destOrd="0" presId="urn:microsoft.com/office/officeart/2018/5/layout/IconCircleLabelList"/>
    <dgm:cxn modelId="{BCE954CE-C44B-4A7B-8539-2E43C90D61EA}" type="presParOf" srcId="{0A1FDF40-4F88-418F-B9CB-439A204CFC6C}" destId="{E414B71E-E12A-447A-A59C-5DE4B685055B}" srcOrd="2" destOrd="0" presId="urn:microsoft.com/office/officeart/2018/5/layout/IconCircleLabelList"/>
    <dgm:cxn modelId="{D2E09A86-C9D8-46D7-B3D7-59C9209E1F03}" type="presParOf" srcId="{0A1FDF40-4F88-418F-B9CB-439A204CFC6C}" destId="{A50F958D-918D-4EFA-84B2-DE19A23386DA}" srcOrd="3" destOrd="0" presId="urn:microsoft.com/office/officeart/2018/5/layout/IconCircle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061C30C7-7483-49B3-8E7E-49D43FB0B6B0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A6A63FBE-7388-41F9-B602-16FDA0E8583D}">
      <dgm:prSet/>
      <dgm:spPr/>
      <dgm:t>
        <a:bodyPr/>
        <a:lstStyle/>
        <a:p>
          <a:r>
            <a:rPr lang="en-GB" dirty="0"/>
            <a:t>Investment decisions are driven by </a:t>
          </a:r>
          <a:r>
            <a:rPr lang="en-GB" b="1" dirty="0"/>
            <a:t>cost asymmetry</a:t>
          </a:r>
          <a:r>
            <a:rPr lang="en-GB" dirty="0"/>
            <a:t>, where capital loss risk outweighs missed opportunity cost </a:t>
          </a:r>
          <a:endParaRPr lang="en-US" dirty="0"/>
        </a:p>
      </dgm:t>
    </dgm:pt>
    <dgm:pt modelId="{5F6A16FE-48F0-4865-967B-C30F36AE3C24}" type="parTrans" cxnId="{149EC32B-563A-4E5C-A99C-78312DF28A61}">
      <dgm:prSet/>
      <dgm:spPr/>
      <dgm:t>
        <a:bodyPr/>
        <a:lstStyle/>
        <a:p>
          <a:endParaRPr lang="en-US"/>
        </a:p>
      </dgm:t>
    </dgm:pt>
    <dgm:pt modelId="{FF9DC10E-BC70-43C0-84A7-5BF82CE01A41}" type="sibTrans" cxnId="{149EC32B-563A-4E5C-A99C-78312DF28A61}">
      <dgm:prSet/>
      <dgm:spPr/>
      <dgm:t>
        <a:bodyPr/>
        <a:lstStyle/>
        <a:p>
          <a:endParaRPr lang="en-US"/>
        </a:p>
      </dgm:t>
    </dgm:pt>
    <dgm:pt modelId="{0EF321AC-A067-44BF-B8B8-C97D866351F9}">
      <dgm:prSet/>
      <dgm:spPr/>
      <dgm:t>
        <a:bodyPr/>
        <a:lstStyle/>
        <a:p>
          <a:r>
            <a:rPr lang="en-GB" dirty="0"/>
            <a:t>The system is designed as a </a:t>
          </a:r>
          <a:r>
            <a:rPr lang="en-GB" b="1" dirty="0"/>
            <a:t>precision-first framework</a:t>
          </a:r>
          <a:r>
            <a:rPr lang="en-GB" dirty="0"/>
            <a:t> for conservative capital allocation </a:t>
          </a:r>
          <a:endParaRPr lang="en-US" dirty="0"/>
        </a:p>
      </dgm:t>
    </dgm:pt>
    <dgm:pt modelId="{20CB7F09-7F4A-4E2C-AD51-7DF029EDD9E9}" type="parTrans" cxnId="{340E0EC8-1B03-448F-AA02-27815060FBA2}">
      <dgm:prSet/>
      <dgm:spPr/>
      <dgm:t>
        <a:bodyPr/>
        <a:lstStyle/>
        <a:p>
          <a:endParaRPr lang="en-US"/>
        </a:p>
      </dgm:t>
    </dgm:pt>
    <dgm:pt modelId="{D9DCF9C9-12A2-40C7-8352-47E3416D66AC}" type="sibTrans" cxnId="{340E0EC8-1B03-448F-AA02-27815060FBA2}">
      <dgm:prSet/>
      <dgm:spPr/>
      <dgm:t>
        <a:bodyPr/>
        <a:lstStyle/>
        <a:p>
          <a:endParaRPr lang="en-US"/>
        </a:p>
      </dgm:t>
    </dgm:pt>
    <dgm:pt modelId="{03093371-9D8F-4F36-9DDE-FC8E99D79DE4}">
      <dgm:prSet/>
      <dgm:spPr/>
      <dgm:t>
        <a:bodyPr/>
        <a:lstStyle/>
        <a:p>
          <a:r>
            <a:rPr lang="en-GB" dirty="0"/>
            <a:t>The model targets a strict </a:t>
          </a:r>
          <a:r>
            <a:rPr lang="en-GB" b="1" dirty="0"/>
            <a:t>80% precision threshold</a:t>
          </a:r>
          <a:r>
            <a:rPr lang="en-GB" dirty="0"/>
            <a:t> for recommended investments</a:t>
          </a:r>
          <a:endParaRPr lang="en-US" dirty="0"/>
        </a:p>
      </dgm:t>
    </dgm:pt>
    <dgm:pt modelId="{EA6D76FA-3D4E-471C-A960-CF765B061A58}" type="parTrans" cxnId="{0FD04D7F-97C6-400D-83D9-35D41A5F0A9A}">
      <dgm:prSet/>
      <dgm:spPr/>
      <dgm:t>
        <a:bodyPr/>
        <a:lstStyle/>
        <a:p>
          <a:endParaRPr lang="en-US"/>
        </a:p>
      </dgm:t>
    </dgm:pt>
    <dgm:pt modelId="{4AB5BA75-AFE4-4198-A2F1-7D4A0620178F}" type="sibTrans" cxnId="{0FD04D7F-97C6-400D-83D9-35D41A5F0A9A}">
      <dgm:prSet/>
      <dgm:spPr/>
      <dgm:t>
        <a:bodyPr/>
        <a:lstStyle/>
        <a:p>
          <a:endParaRPr lang="en-US"/>
        </a:p>
      </dgm:t>
    </dgm:pt>
    <dgm:pt modelId="{B79E4C8C-C12F-414C-954F-41070B51CE47}" type="pres">
      <dgm:prSet presAssocID="{061C30C7-7483-49B3-8E7E-49D43FB0B6B0}" presName="root" presStyleCnt="0">
        <dgm:presLayoutVars>
          <dgm:dir/>
          <dgm:resizeHandles val="exact"/>
        </dgm:presLayoutVars>
      </dgm:prSet>
      <dgm:spPr/>
    </dgm:pt>
    <dgm:pt modelId="{5FA91749-4F36-412E-9EED-4290EBD1B24C}" type="pres">
      <dgm:prSet presAssocID="{A6A63FBE-7388-41F9-B602-16FDA0E8583D}" presName="compNode" presStyleCnt="0"/>
      <dgm:spPr/>
    </dgm:pt>
    <dgm:pt modelId="{D0290B13-3491-4589-99A0-F410F5CEDBA0}" type="pres">
      <dgm:prSet presAssocID="{A6A63FBE-7388-41F9-B602-16FDA0E8583D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oney"/>
        </a:ext>
      </dgm:extLst>
    </dgm:pt>
    <dgm:pt modelId="{CA5A3080-8E56-47AB-92B7-CAA414326C7C}" type="pres">
      <dgm:prSet presAssocID="{A6A63FBE-7388-41F9-B602-16FDA0E8583D}" presName="spaceRect" presStyleCnt="0"/>
      <dgm:spPr/>
    </dgm:pt>
    <dgm:pt modelId="{F15E48B2-4D25-4128-861D-6E8B10B49F39}" type="pres">
      <dgm:prSet presAssocID="{A6A63FBE-7388-41F9-B602-16FDA0E8583D}" presName="textRect" presStyleLbl="revTx" presStyleIdx="0" presStyleCnt="3">
        <dgm:presLayoutVars>
          <dgm:chMax val="1"/>
          <dgm:chPref val="1"/>
        </dgm:presLayoutVars>
      </dgm:prSet>
      <dgm:spPr/>
    </dgm:pt>
    <dgm:pt modelId="{A49581B9-8445-40F8-A9DF-2993232E9432}" type="pres">
      <dgm:prSet presAssocID="{FF9DC10E-BC70-43C0-84A7-5BF82CE01A41}" presName="sibTrans" presStyleCnt="0"/>
      <dgm:spPr/>
    </dgm:pt>
    <dgm:pt modelId="{7F24EC5A-EB1A-4036-BE66-AF542FE47707}" type="pres">
      <dgm:prSet presAssocID="{0EF321AC-A067-44BF-B8B8-C97D866351F9}" presName="compNode" presStyleCnt="0"/>
      <dgm:spPr/>
    </dgm:pt>
    <dgm:pt modelId="{9F84F375-4B0A-43EF-94A3-53D298A2670E}" type="pres">
      <dgm:prSet presAssocID="{0EF321AC-A067-44BF-B8B8-C97D866351F9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rget"/>
        </a:ext>
      </dgm:extLst>
    </dgm:pt>
    <dgm:pt modelId="{CCCA0703-8C3A-48D2-B6B7-89339295D0F4}" type="pres">
      <dgm:prSet presAssocID="{0EF321AC-A067-44BF-B8B8-C97D866351F9}" presName="spaceRect" presStyleCnt="0"/>
      <dgm:spPr/>
    </dgm:pt>
    <dgm:pt modelId="{6D5CD3F8-F145-41A2-A98E-BCBAB88ED1C7}" type="pres">
      <dgm:prSet presAssocID="{0EF321AC-A067-44BF-B8B8-C97D866351F9}" presName="textRect" presStyleLbl="revTx" presStyleIdx="1" presStyleCnt="3">
        <dgm:presLayoutVars>
          <dgm:chMax val="1"/>
          <dgm:chPref val="1"/>
        </dgm:presLayoutVars>
      </dgm:prSet>
      <dgm:spPr/>
    </dgm:pt>
    <dgm:pt modelId="{66A0C694-2F88-4246-A09E-B5E1C1BE215B}" type="pres">
      <dgm:prSet presAssocID="{D9DCF9C9-12A2-40C7-8352-47E3416D66AC}" presName="sibTrans" presStyleCnt="0"/>
      <dgm:spPr/>
    </dgm:pt>
    <dgm:pt modelId="{B026EB2F-DA04-4344-89EB-5140AF12C591}" type="pres">
      <dgm:prSet presAssocID="{03093371-9D8F-4F36-9DDE-FC8E99D79DE4}" presName="compNode" presStyleCnt="0"/>
      <dgm:spPr/>
    </dgm:pt>
    <dgm:pt modelId="{53CDD898-1BF1-49DA-A2BE-0071CE9A22B9}" type="pres">
      <dgm:prSet presAssocID="{03093371-9D8F-4F36-9DDE-FC8E99D79DE4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Optical disc"/>
        </a:ext>
      </dgm:extLst>
    </dgm:pt>
    <dgm:pt modelId="{A09EF171-35E6-4297-8883-8111BB2330FC}" type="pres">
      <dgm:prSet presAssocID="{03093371-9D8F-4F36-9DDE-FC8E99D79DE4}" presName="spaceRect" presStyleCnt="0"/>
      <dgm:spPr/>
    </dgm:pt>
    <dgm:pt modelId="{77484D4A-89F5-488E-ABC2-8BA606683E4B}" type="pres">
      <dgm:prSet presAssocID="{03093371-9D8F-4F36-9DDE-FC8E99D79DE4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F244AD07-E33C-48A6-8107-E6426DFA2B04}" type="presOf" srcId="{03093371-9D8F-4F36-9DDE-FC8E99D79DE4}" destId="{77484D4A-89F5-488E-ABC2-8BA606683E4B}" srcOrd="0" destOrd="0" presId="urn:microsoft.com/office/officeart/2018/2/layout/IconLabelList"/>
    <dgm:cxn modelId="{149EC32B-563A-4E5C-A99C-78312DF28A61}" srcId="{061C30C7-7483-49B3-8E7E-49D43FB0B6B0}" destId="{A6A63FBE-7388-41F9-B602-16FDA0E8583D}" srcOrd="0" destOrd="0" parTransId="{5F6A16FE-48F0-4865-967B-C30F36AE3C24}" sibTransId="{FF9DC10E-BC70-43C0-84A7-5BF82CE01A41}"/>
    <dgm:cxn modelId="{CE64465A-3577-4EDE-8E9C-2EFACBDB25A0}" type="presOf" srcId="{0EF321AC-A067-44BF-B8B8-C97D866351F9}" destId="{6D5CD3F8-F145-41A2-A98E-BCBAB88ED1C7}" srcOrd="0" destOrd="0" presId="urn:microsoft.com/office/officeart/2018/2/layout/IconLabelList"/>
    <dgm:cxn modelId="{0FD04D7F-97C6-400D-83D9-35D41A5F0A9A}" srcId="{061C30C7-7483-49B3-8E7E-49D43FB0B6B0}" destId="{03093371-9D8F-4F36-9DDE-FC8E99D79DE4}" srcOrd="2" destOrd="0" parTransId="{EA6D76FA-3D4E-471C-A960-CF765B061A58}" sibTransId="{4AB5BA75-AFE4-4198-A2F1-7D4A0620178F}"/>
    <dgm:cxn modelId="{4290F07F-5035-4709-9920-F8B2BCDB5BE4}" type="presOf" srcId="{061C30C7-7483-49B3-8E7E-49D43FB0B6B0}" destId="{B79E4C8C-C12F-414C-954F-41070B51CE47}" srcOrd="0" destOrd="0" presId="urn:microsoft.com/office/officeart/2018/2/layout/IconLabelList"/>
    <dgm:cxn modelId="{B1368DB9-4D34-40A7-8A58-98F87AD1AE4C}" type="presOf" srcId="{A6A63FBE-7388-41F9-B602-16FDA0E8583D}" destId="{F15E48B2-4D25-4128-861D-6E8B10B49F39}" srcOrd="0" destOrd="0" presId="urn:microsoft.com/office/officeart/2018/2/layout/IconLabelList"/>
    <dgm:cxn modelId="{340E0EC8-1B03-448F-AA02-27815060FBA2}" srcId="{061C30C7-7483-49B3-8E7E-49D43FB0B6B0}" destId="{0EF321AC-A067-44BF-B8B8-C97D866351F9}" srcOrd="1" destOrd="0" parTransId="{20CB7F09-7F4A-4E2C-AD51-7DF029EDD9E9}" sibTransId="{D9DCF9C9-12A2-40C7-8352-47E3416D66AC}"/>
    <dgm:cxn modelId="{B00AE047-448F-4415-9AAF-901C56E69E5E}" type="presParOf" srcId="{B79E4C8C-C12F-414C-954F-41070B51CE47}" destId="{5FA91749-4F36-412E-9EED-4290EBD1B24C}" srcOrd="0" destOrd="0" presId="urn:microsoft.com/office/officeart/2018/2/layout/IconLabelList"/>
    <dgm:cxn modelId="{2E6E586F-6167-45E5-ADD6-3F77208E13A1}" type="presParOf" srcId="{5FA91749-4F36-412E-9EED-4290EBD1B24C}" destId="{D0290B13-3491-4589-99A0-F410F5CEDBA0}" srcOrd="0" destOrd="0" presId="urn:microsoft.com/office/officeart/2018/2/layout/IconLabelList"/>
    <dgm:cxn modelId="{4EBB81E9-B24A-4539-8B2C-1C22E9ACA597}" type="presParOf" srcId="{5FA91749-4F36-412E-9EED-4290EBD1B24C}" destId="{CA5A3080-8E56-47AB-92B7-CAA414326C7C}" srcOrd="1" destOrd="0" presId="urn:microsoft.com/office/officeart/2018/2/layout/IconLabelList"/>
    <dgm:cxn modelId="{2847F1E8-A4EF-4D47-9095-2202D0ADEF23}" type="presParOf" srcId="{5FA91749-4F36-412E-9EED-4290EBD1B24C}" destId="{F15E48B2-4D25-4128-861D-6E8B10B49F39}" srcOrd="2" destOrd="0" presId="urn:microsoft.com/office/officeart/2018/2/layout/IconLabelList"/>
    <dgm:cxn modelId="{553C786F-1F32-4DD6-A264-1A4B3BC56B4A}" type="presParOf" srcId="{B79E4C8C-C12F-414C-954F-41070B51CE47}" destId="{A49581B9-8445-40F8-A9DF-2993232E9432}" srcOrd="1" destOrd="0" presId="urn:microsoft.com/office/officeart/2018/2/layout/IconLabelList"/>
    <dgm:cxn modelId="{56E24CAD-C67D-4064-AAE1-34E5443D770C}" type="presParOf" srcId="{B79E4C8C-C12F-414C-954F-41070B51CE47}" destId="{7F24EC5A-EB1A-4036-BE66-AF542FE47707}" srcOrd="2" destOrd="0" presId="urn:microsoft.com/office/officeart/2018/2/layout/IconLabelList"/>
    <dgm:cxn modelId="{A3C271CF-E8CF-43FD-A2B4-A5DD482B9A0D}" type="presParOf" srcId="{7F24EC5A-EB1A-4036-BE66-AF542FE47707}" destId="{9F84F375-4B0A-43EF-94A3-53D298A2670E}" srcOrd="0" destOrd="0" presId="urn:microsoft.com/office/officeart/2018/2/layout/IconLabelList"/>
    <dgm:cxn modelId="{3DC929B1-A542-4E0A-A2A0-C79A53C93D75}" type="presParOf" srcId="{7F24EC5A-EB1A-4036-BE66-AF542FE47707}" destId="{CCCA0703-8C3A-48D2-B6B7-89339295D0F4}" srcOrd="1" destOrd="0" presId="urn:microsoft.com/office/officeart/2018/2/layout/IconLabelList"/>
    <dgm:cxn modelId="{EB4BA554-69AB-4533-B4A5-83FD99FEDD1A}" type="presParOf" srcId="{7F24EC5A-EB1A-4036-BE66-AF542FE47707}" destId="{6D5CD3F8-F145-41A2-A98E-BCBAB88ED1C7}" srcOrd="2" destOrd="0" presId="urn:microsoft.com/office/officeart/2018/2/layout/IconLabelList"/>
    <dgm:cxn modelId="{B06BDB34-9C45-457F-B54E-32F5A93DF701}" type="presParOf" srcId="{B79E4C8C-C12F-414C-954F-41070B51CE47}" destId="{66A0C694-2F88-4246-A09E-B5E1C1BE215B}" srcOrd="3" destOrd="0" presId="urn:microsoft.com/office/officeart/2018/2/layout/IconLabelList"/>
    <dgm:cxn modelId="{4EB81DD3-A7FA-4858-9F7C-4556D668F21C}" type="presParOf" srcId="{B79E4C8C-C12F-414C-954F-41070B51CE47}" destId="{B026EB2F-DA04-4344-89EB-5140AF12C591}" srcOrd="4" destOrd="0" presId="urn:microsoft.com/office/officeart/2018/2/layout/IconLabelList"/>
    <dgm:cxn modelId="{35469151-210D-4599-9F68-4735617C5653}" type="presParOf" srcId="{B026EB2F-DA04-4344-89EB-5140AF12C591}" destId="{53CDD898-1BF1-49DA-A2BE-0071CE9A22B9}" srcOrd="0" destOrd="0" presId="urn:microsoft.com/office/officeart/2018/2/layout/IconLabelList"/>
    <dgm:cxn modelId="{E4322A28-F4A6-4CC7-91EC-7B3BC6BE70BF}" type="presParOf" srcId="{B026EB2F-DA04-4344-89EB-5140AF12C591}" destId="{A09EF171-35E6-4297-8883-8111BB2330FC}" srcOrd="1" destOrd="0" presId="urn:microsoft.com/office/officeart/2018/2/layout/IconLabelList"/>
    <dgm:cxn modelId="{172C6F0A-A61D-44EC-B70F-2607B82B74CD}" type="presParOf" srcId="{B026EB2F-DA04-4344-89EB-5140AF12C591}" destId="{77484D4A-89F5-488E-ABC2-8BA606683E4B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E688561-E9CE-428E-BFBD-A52FD7EA493B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icontext_colorful1" csCatId="colorful" phldr="1"/>
      <dgm:spPr/>
      <dgm:t>
        <a:bodyPr/>
        <a:lstStyle/>
        <a:p>
          <a:endParaRPr lang="en-US"/>
        </a:p>
      </dgm:t>
    </dgm:pt>
    <dgm:pt modelId="{21CB7657-C9D8-4697-B929-F714993BEDED}">
      <dgm:prSet/>
      <dgm:spPr/>
      <dgm:t>
        <a:bodyPr/>
        <a:lstStyle/>
        <a:p>
          <a:r>
            <a:rPr lang="en-US"/>
            <a:t>Raw Data → Signal Extraction → Predictive Modeling → Risk Filtering → Investment Decision</a:t>
          </a:r>
        </a:p>
      </dgm:t>
    </dgm:pt>
    <dgm:pt modelId="{E81AB9ED-8B70-4326-8EF3-A0C8464DB537}" type="parTrans" cxnId="{8A221E85-AFA5-4E80-B6A1-EA8C6496F157}">
      <dgm:prSet/>
      <dgm:spPr/>
      <dgm:t>
        <a:bodyPr/>
        <a:lstStyle/>
        <a:p>
          <a:endParaRPr lang="en-US"/>
        </a:p>
      </dgm:t>
    </dgm:pt>
    <dgm:pt modelId="{EC70C265-2C20-4167-AB4E-892C2CB8DDD6}" type="sibTrans" cxnId="{8A221E85-AFA5-4E80-B6A1-EA8C6496F157}">
      <dgm:prSet/>
      <dgm:spPr/>
      <dgm:t>
        <a:bodyPr/>
        <a:lstStyle/>
        <a:p>
          <a:endParaRPr lang="en-US"/>
        </a:p>
      </dgm:t>
    </dgm:pt>
    <dgm:pt modelId="{A16E1DAC-A664-41A3-AA39-D1317BC35CE9}">
      <dgm:prSet/>
      <dgm:spPr/>
      <dgm:t>
        <a:bodyPr/>
        <a:lstStyle/>
        <a:p>
          <a:r>
            <a:rPr lang="en-US"/>
            <a:t>A structured pipeline that transforms raw behavioral and geographic data into actionable investment signals. Each stage is optimized to progressively refine high-probability success candidates for final selection.</a:t>
          </a:r>
        </a:p>
      </dgm:t>
    </dgm:pt>
    <dgm:pt modelId="{83CF9574-7586-4D40-9512-2A39B42C403E}" type="parTrans" cxnId="{AC571097-E8EA-44C9-9658-C03B597AC86E}">
      <dgm:prSet/>
      <dgm:spPr/>
      <dgm:t>
        <a:bodyPr/>
        <a:lstStyle/>
        <a:p>
          <a:endParaRPr lang="en-US"/>
        </a:p>
      </dgm:t>
    </dgm:pt>
    <dgm:pt modelId="{B144D213-4AD4-4578-9433-445C10615785}" type="sibTrans" cxnId="{AC571097-E8EA-44C9-9658-C03B597AC86E}">
      <dgm:prSet/>
      <dgm:spPr/>
      <dgm:t>
        <a:bodyPr/>
        <a:lstStyle/>
        <a:p>
          <a:endParaRPr lang="en-US"/>
        </a:p>
      </dgm:t>
    </dgm:pt>
    <dgm:pt modelId="{752C6A2F-AC8B-49A5-BD3F-C675FD0AC4C6}" type="pres">
      <dgm:prSet presAssocID="{BE688561-E9CE-428E-BFBD-A52FD7EA493B}" presName="root" presStyleCnt="0">
        <dgm:presLayoutVars>
          <dgm:dir/>
          <dgm:resizeHandles val="exact"/>
        </dgm:presLayoutVars>
      </dgm:prSet>
      <dgm:spPr/>
    </dgm:pt>
    <dgm:pt modelId="{0E652C6A-69AD-4C01-8D88-451CC241E627}" type="pres">
      <dgm:prSet presAssocID="{21CB7657-C9D8-4697-B929-F714993BEDED}" presName="compNode" presStyleCnt="0"/>
      <dgm:spPr/>
    </dgm:pt>
    <dgm:pt modelId="{B33DF67E-138B-4211-80D5-A01540F1956B}" type="pres">
      <dgm:prSet presAssocID="{21CB7657-C9D8-4697-B929-F714993BEDED}" presName="bgRect" presStyleLbl="bgShp" presStyleIdx="0" presStyleCnt="2"/>
      <dgm:spPr/>
    </dgm:pt>
    <dgm:pt modelId="{E9A8D5FC-34E1-48DB-8438-F87B5EF29DE8}" type="pres">
      <dgm:prSet presAssocID="{21CB7657-C9D8-4697-B929-F714993BEDED}" presName="iconRect" presStyleLbl="node1" presStyleIdx="0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C430B0EF-A7C3-410C-95AF-3FD1112D847B}" type="pres">
      <dgm:prSet presAssocID="{21CB7657-C9D8-4697-B929-F714993BEDED}" presName="spaceRect" presStyleCnt="0"/>
      <dgm:spPr/>
    </dgm:pt>
    <dgm:pt modelId="{B5417658-30AD-4E98-A7D2-641B702CD011}" type="pres">
      <dgm:prSet presAssocID="{21CB7657-C9D8-4697-B929-F714993BEDED}" presName="parTx" presStyleLbl="revTx" presStyleIdx="0" presStyleCnt="2">
        <dgm:presLayoutVars>
          <dgm:chMax val="0"/>
          <dgm:chPref val="0"/>
        </dgm:presLayoutVars>
      </dgm:prSet>
      <dgm:spPr/>
    </dgm:pt>
    <dgm:pt modelId="{5AF8F6F6-09B2-438B-9B55-0018A2CB0647}" type="pres">
      <dgm:prSet presAssocID="{EC70C265-2C20-4167-AB4E-892C2CB8DDD6}" presName="sibTrans" presStyleCnt="0"/>
      <dgm:spPr/>
    </dgm:pt>
    <dgm:pt modelId="{C275586A-B1CB-4294-8705-B0DC57B57708}" type="pres">
      <dgm:prSet presAssocID="{A16E1DAC-A664-41A3-AA39-D1317BC35CE9}" presName="compNode" presStyleCnt="0"/>
      <dgm:spPr/>
    </dgm:pt>
    <dgm:pt modelId="{0FD1CABD-B46D-4100-B690-4AD93A273B37}" type="pres">
      <dgm:prSet presAssocID="{A16E1DAC-A664-41A3-AA39-D1317BC35CE9}" presName="bgRect" presStyleLbl="bgShp" presStyleIdx="1" presStyleCnt="2"/>
      <dgm:spPr/>
    </dgm:pt>
    <dgm:pt modelId="{F7A47ACA-9B35-49A3-B360-C40E9F61B6AD}" type="pres">
      <dgm:prSet presAssocID="{A16E1DAC-A664-41A3-AA39-D1317BC35CE9}" presName="iconRect" presStyleLbl="node1" presStyleIdx="1" presStyleCnt="2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Gears"/>
        </a:ext>
      </dgm:extLst>
    </dgm:pt>
    <dgm:pt modelId="{042362A7-C6A7-4829-8871-A902A5A2569C}" type="pres">
      <dgm:prSet presAssocID="{A16E1DAC-A664-41A3-AA39-D1317BC35CE9}" presName="spaceRect" presStyleCnt="0"/>
      <dgm:spPr/>
    </dgm:pt>
    <dgm:pt modelId="{2CB5A38B-2AA5-4745-B93E-A38872C35949}" type="pres">
      <dgm:prSet presAssocID="{A16E1DAC-A664-41A3-AA39-D1317BC35CE9}" presName="parTx" presStyleLbl="revTx" presStyleIdx="1" presStyleCnt="2">
        <dgm:presLayoutVars>
          <dgm:chMax val="0"/>
          <dgm:chPref val="0"/>
        </dgm:presLayoutVars>
      </dgm:prSet>
      <dgm:spPr/>
    </dgm:pt>
  </dgm:ptLst>
  <dgm:cxnLst>
    <dgm:cxn modelId="{9551D306-E891-4EF6-828E-F55B8D1EF88E}" type="presOf" srcId="{21CB7657-C9D8-4697-B929-F714993BEDED}" destId="{B5417658-30AD-4E98-A7D2-641B702CD011}" srcOrd="0" destOrd="0" presId="urn:microsoft.com/office/officeart/2018/2/layout/IconVerticalSolidList"/>
    <dgm:cxn modelId="{8A221E85-AFA5-4E80-B6A1-EA8C6496F157}" srcId="{BE688561-E9CE-428E-BFBD-A52FD7EA493B}" destId="{21CB7657-C9D8-4697-B929-F714993BEDED}" srcOrd="0" destOrd="0" parTransId="{E81AB9ED-8B70-4326-8EF3-A0C8464DB537}" sibTransId="{EC70C265-2C20-4167-AB4E-892C2CB8DDD6}"/>
    <dgm:cxn modelId="{AC571097-E8EA-44C9-9658-C03B597AC86E}" srcId="{BE688561-E9CE-428E-BFBD-A52FD7EA493B}" destId="{A16E1DAC-A664-41A3-AA39-D1317BC35CE9}" srcOrd="1" destOrd="0" parTransId="{83CF9574-7586-4D40-9512-2A39B42C403E}" sibTransId="{B144D213-4AD4-4578-9433-445C10615785}"/>
    <dgm:cxn modelId="{FE0FEEE4-C963-4176-829F-AD9333C7342A}" type="presOf" srcId="{BE688561-E9CE-428E-BFBD-A52FD7EA493B}" destId="{752C6A2F-AC8B-49A5-BD3F-C675FD0AC4C6}" srcOrd="0" destOrd="0" presId="urn:microsoft.com/office/officeart/2018/2/layout/IconVerticalSolidList"/>
    <dgm:cxn modelId="{E7AB06FD-CDE7-4218-A14A-BBB5EDD6F4C9}" type="presOf" srcId="{A16E1DAC-A664-41A3-AA39-D1317BC35CE9}" destId="{2CB5A38B-2AA5-4745-B93E-A38872C35949}" srcOrd="0" destOrd="0" presId="urn:microsoft.com/office/officeart/2018/2/layout/IconVerticalSolidList"/>
    <dgm:cxn modelId="{E5BAA6CF-6D1D-46F7-B49B-44DB6F74CDD2}" type="presParOf" srcId="{752C6A2F-AC8B-49A5-BD3F-C675FD0AC4C6}" destId="{0E652C6A-69AD-4C01-8D88-451CC241E627}" srcOrd="0" destOrd="0" presId="urn:microsoft.com/office/officeart/2018/2/layout/IconVerticalSolidList"/>
    <dgm:cxn modelId="{C05F3E93-4DAB-435C-B642-E54EB9137671}" type="presParOf" srcId="{0E652C6A-69AD-4C01-8D88-451CC241E627}" destId="{B33DF67E-138B-4211-80D5-A01540F1956B}" srcOrd="0" destOrd="0" presId="urn:microsoft.com/office/officeart/2018/2/layout/IconVerticalSolidList"/>
    <dgm:cxn modelId="{426F60E6-F04F-4FFA-B746-B3BDAF267BF1}" type="presParOf" srcId="{0E652C6A-69AD-4C01-8D88-451CC241E627}" destId="{E9A8D5FC-34E1-48DB-8438-F87B5EF29DE8}" srcOrd="1" destOrd="0" presId="urn:microsoft.com/office/officeart/2018/2/layout/IconVerticalSolidList"/>
    <dgm:cxn modelId="{8638DBF6-C864-49E1-BED3-F2A499FFDE96}" type="presParOf" srcId="{0E652C6A-69AD-4C01-8D88-451CC241E627}" destId="{C430B0EF-A7C3-410C-95AF-3FD1112D847B}" srcOrd="2" destOrd="0" presId="urn:microsoft.com/office/officeart/2018/2/layout/IconVerticalSolidList"/>
    <dgm:cxn modelId="{3A215B82-D3B7-4A28-A2C3-A67AD961A27F}" type="presParOf" srcId="{0E652C6A-69AD-4C01-8D88-451CC241E627}" destId="{B5417658-30AD-4E98-A7D2-641B702CD011}" srcOrd="3" destOrd="0" presId="urn:microsoft.com/office/officeart/2018/2/layout/IconVerticalSolidList"/>
    <dgm:cxn modelId="{0EC86A67-C54A-4287-949C-03EB93AEC930}" type="presParOf" srcId="{752C6A2F-AC8B-49A5-BD3F-C675FD0AC4C6}" destId="{5AF8F6F6-09B2-438B-9B55-0018A2CB0647}" srcOrd="1" destOrd="0" presId="urn:microsoft.com/office/officeart/2018/2/layout/IconVerticalSolidList"/>
    <dgm:cxn modelId="{9E9DB9C1-3A0B-409C-B5C1-908FD5F784B6}" type="presParOf" srcId="{752C6A2F-AC8B-49A5-BD3F-C675FD0AC4C6}" destId="{C275586A-B1CB-4294-8705-B0DC57B57708}" srcOrd="2" destOrd="0" presId="urn:microsoft.com/office/officeart/2018/2/layout/IconVerticalSolidList"/>
    <dgm:cxn modelId="{D12AAC5F-DC55-4E43-9987-D52C2CB7F2C5}" type="presParOf" srcId="{C275586A-B1CB-4294-8705-B0DC57B57708}" destId="{0FD1CABD-B46D-4100-B690-4AD93A273B37}" srcOrd="0" destOrd="0" presId="urn:microsoft.com/office/officeart/2018/2/layout/IconVerticalSolidList"/>
    <dgm:cxn modelId="{42E0F36C-1C38-427B-9B30-8CE9F0AC1A30}" type="presParOf" srcId="{C275586A-B1CB-4294-8705-B0DC57B57708}" destId="{F7A47ACA-9B35-49A3-B360-C40E9F61B6AD}" srcOrd="1" destOrd="0" presId="urn:microsoft.com/office/officeart/2018/2/layout/IconVerticalSolidList"/>
    <dgm:cxn modelId="{52D9705E-49ED-481A-B1B0-4380C249DA31}" type="presParOf" srcId="{C275586A-B1CB-4294-8705-B0DC57B57708}" destId="{042362A7-C6A7-4829-8871-A902A5A2569C}" srcOrd="2" destOrd="0" presId="urn:microsoft.com/office/officeart/2018/2/layout/IconVerticalSolidList"/>
    <dgm:cxn modelId="{18506323-CF16-411E-AEB3-40420D84D5A5}" type="presParOf" srcId="{C275586A-B1CB-4294-8705-B0DC57B57708}" destId="{2CB5A38B-2AA5-4745-B93E-A38872C35949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76BC1C6B-94C5-4063-AB79-13EC0E0FD72F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07A24966-8CDB-4140-B850-7292D1BEDDCE}">
      <dgm:prSet/>
      <dgm:spPr/>
      <dgm:t>
        <a:bodyPr/>
        <a:lstStyle/>
        <a:p>
          <a:r>
            <a:rPr lang="en-GB"/>
            <a:t>Restaurants with fewer than 20 reviews were excluded to reduce statistical noise</a:t>
          </a:r>
          <a:endParaRPr lang="en-US"/>
        </a:p>
      </dgm:t>
    </dgm:pt>
    <dgm:pt modelId="{1CBACCDE-C908-4F06-89B7-594CED61AB67}" type="parTrans" cxnId="{B508E0DC-1275-4EB6-97D9-C131AB44F2D8}">
      <dgm:prSet/>
      <dgm:spPr/>
      <dgm:t>
        <a:bodyPr/>
        <a:lstStyle/>
        <a:p>
          <a:endParaRPr lang="en-US"/>
        </a:p>
      </dgm:t>
    </dgm:pt>
    <dgm:pt modelId="{E45413F5-14E5-43AF-99E9-DB9ED73D014A}" type="sibTrans" cxnId="{B508E0DC-1275-4EB6-97D9-C131AB44F2D8}">
      <dgm:prSet/>
      <dgm:spPr/>
      <dgm:t>
        <a:bodyPr/>
        <a:lstStyle/>
        <a:p>
          <a:endParaRPr lang="en-US"/>
        </a:p>
      </dgm:t>
    </dgm:pt>
    <dgm:pt modelId="{291919EC-AF28-4864-B13F-216DE3FE9927}">
      <dgm:prSet/>
      <dgm:spPr/>
      <dgm:t>
        <a:bodyPr/>
        <a:lstStyle/>
        <a:p>
          <a:r>
            <a:rPr lang="en-GB"/>
            <a:t>This ensures rating signals reflect </a:t>
          </a:r>
          <a:r>
            <a:rPr lang="en-GB" b="1"/>
            <a:t>stable market consensus rather than short-term variance</a:t>
          </a:r>
          <a:endParaRPr lang="en-US"/>
        </a:p>
      </dgm:t>
    </dgm:pt>
    <dgm:pt modelId="{4FB1AAC2-54F3-409F-AF36-9A3F58DF4A2F}" type="parTrans" cxnId="{031A3AE0-A776-46F8-8C81-BFCBC1135362}">
      <dgm:prSet/>
      <dgm:spPr/>
      <dgm:t>
        <a:bodyPr/>
        <a:lstStyle/>
        <a:p>
          <a:endParaRPr lang="en-US"/>
        </a:p>
      </dgm:t>
    </dgm:pt>
    <dgm:pt modelId="{8E9BABFA-F683-4FD7-8147-AB7FA546DEEA}" type="sibTrans" cxnId="{031A3AE0-A776-46F8-8C81-BFCBC1135362}">
      <dgm:prSet/>
      <dgm:spPr/>
      <dgm:t>
        <a:bodyPr/>
        <a:lstStyle/>
        <a:p>
          <a:endParaRPr lang="en-US"/>
        </a:p>
      </dgm:t>
    </dgm:pt>
    <dgm:pt modelId="{5561B71B-37E2-49A1-A546-BBC21253A4A0}">
      <dgm:prSet/>
      <dgm:spPr/>
      <dgm:t>
        <a:bodyPr/>
        <a:lstStyle/>
        <a:p>
          <a:r>
            <a:rPr lang="en-GB"/>
            <a:t>The final dataset represents a reliable baseline for predictive modeling</a:t>
          </a:r>
          <a:endParaRPr lang="en-US"/>
        </a:p>
      </dgm:t>
    </dgm:pt>
    <dgm:pt modelId="{78E6AFB5-711E-445C-ADE4-95B208BB0DD9}" type="parTrans" cxnId="{D573F6D7-D9BF-496A-929E-431C777D1022}">
      <dgm:prSet/>
      <dgm:spPr/>
      <dgm:t>
        <a:bodyPr/>
        <a:lstStyle/>
        <a:p>
          <a:endParaRPr lang="en-US"/>
        </a:p>
      </dgm:t>
    </dgm:pt>
    <dgm:pt modelId="{3A624C6C-BE0A-4132-900E-DE5A7C602490}" type="sibTrans" cxnId="{D573F6D7-D9BF-496A-929E-431C777D1022}">
      <dgm:prSet/>
      <dgm:spPr/>
      <dgm:t>
        <a:bodyPr/>
        <a:lstStyle/>
        <a:p>
          <a:endParaRPr lang="en-US"/>
        </a:p>
      </dgm:t>
    </dgm:pt>
    <dgm:pt modelId="{87236179-3031-4E3B-BB95-0824B6EACF4A}" type="pres">
      <dgm:prSet presAssocID="{76BC1C6B-94C5-4063-AB79-13EC0E0FD72F}" presName="root" presStyleCnt="0">
        <dgm:presLayoutVars>
          <dgm:dir/>
          <dgm:resizeHandles val="exact"/>
        </dgm:presLayoutVars>
      </dgm:prSet>
      <dgm:spPr/>
    </dgm:pt>
    <dgm:pt modelId="{177C5A26-CBC9-47F4-9CAD-8878D27F001D}" type="pres">
      <dgm:prSet presAssocID="{07A24966-8CDB-4140-B850-7292D1BEDDCE}" presName="compNode" presStyleCnt="0"/>
      <dgm:spPr/>
    </dgm:pt>
    <dgm:pt modelId="{2CB74302-6423-45B1-892A-C029A974852C}" type="pres">
      <dgm:prSet presAssocID="{07A24966-8CDB-4140-B850-7292D1BEDDCE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k and knife"/>
        </a:ext>
      </dgm:extLst>
    </dgm:pt>
    <dgm:pt modelId="{FD557BCD-A78B-43EA-98BE-84038FDE1E99}" type="pres">
      <dgm:prSet presAssocID="{07A24966-8CDB-4140-B850-7292D1BEDDCE}" presName="spaceRect" presStyleCnt="0"/>
      <dgm:spPr/>
    </dgm:pt>
    <dgm:pt modelId="{2D1CCC9A-7B04-49C7-9285-B1CADAF876E7}" type="pres">
      <dgm:prSet presAssocID="{07A24966-8CDB-4140-B850-7292D1BEDDCE}" presName="textRect" presStyleLbl="revTx" presStyleIdx="0" presStyleCnt="3">
        <dgm:presLayoutVars>
          <dgm:chMax val="1"/>
          <dgm:chPref val="1"/>
        </dgm:presLayoutVars>
      </dgm:prSet>
      <dgm:spPr/>
    </dgm:pt>
    <dgm:pt modelId="{D49116C7-3F4E-46BC-8C92-17D05E757337}" type="pres">
      <dgm:prSet presAssocID="{E45413F5-14E5-43AF-99E9-DB9ED73D014A}" presName="sibTrans" presStyleCnt="0"/>
      <dgm:spPr/>
    </dgm:pt>
    <dgm:pt modelId="{EAC685C4-C2E9-4253-A67E-C9AC9D68F22D}" type="pres">
      <dgm:prSet presAssocID="{291919EC-AF28-4864-B13F-216DE3FE9927}" presName="compNode" presStyleCnt="0"/>
      <dgm:spPr/>
    </dgm:pt>
    <dgm:pt modelId="{C1B016C9-E3B1-4BD9-B4C1-1A5CD044360E}" type="pres">
      <dgm:prSet presAssocID="{291919EC-AF28-4864-B13F-216DE3FE9927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ick"/>
        </a:ext>
      </dgm:extLst>
    </dgm:pt>
    <dgm:pt modelId="{8C6DD980-D829-4441-A7D5-68159E920700}" type="pres">
      <dgm:prSet presAssocID="{291919EC-AF28-4864-B13F-216DE3FE9927}" presName="spaceRect" presStyleCnt="0"/>
      <dgm:spPr/>
    </dgm:pt>
    <dgm:pt modelId="{40072C87-079D-466C-A868-3E2E8A3A2EF0}" type="pres">
      <dgm:prSet presAssocID="{291919EC-AF28-4864-B13F-216DE3FE9927}" presName="textRect" presStyleLbl="revTx" presStyleIdx="1" presStyleCnt="3">
        <dgm:presLayoutVars>
          <dgm:chMax val="1"/>
          <dgm:chPref val="1"/>
        </dgm:presLayoutVars>
      </dgm:prSet>
      <dgm:spPr/>
    </dgm:pt>
    <dgm:pt modelId="{E2250C50-6D60-4B04-912A-AF87A3260138}" type="pres">
      <dgm:prSet presAssocID="{8E9BABFA-F683-4FD7-8147-AB7FA546DEEA}" presName="sibTrans" presStyleCnt="0"/>
      <dgm:spPr/>
    </dgm:pt>
    <dgm:pt modelId="{86245D70-222C-4851-809A-4251C3C0A0AB}" type="pres">
      <dgm:prSet presAssocID="{5561B71B-37E2-49A1-A546-BBC21253A4A0}" presName="compNode" presStyleCnt="0"/>
      <dgm:spPr/>
    </dgm:pt>
    <dgm:pt modelId="{2CD6E5E0-F52E-4293-AE97-65F67E421FD0}" type="pres">
      <dgm:prSet presAssocID="{5561B71B-37E2-49A1-A546-BBC21253A4A0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Bar chart"/>
        </a:ext>
      </dgm:extLst>
    </dgm:pt>
    <dgm:pt modelId="{5D228FDD-B473-4B61-970D-51C5CE5D8A99}" type="pres">
      <dgm:prSet presAssocID="{5561B71B-37E2-49A1-A546-BBC21253A4A0}" presName="spaceRect" presStyleCnt="0"/>
      <dgm:spPr/>
    </dgm:pt>
    <dgm:pt modelId="{B8688C38-172D-4D32-B1CA-5B75A2830822}" type="pres">
      <dgm:prSet presAssocID="{5561B71B-37E2-49A1-A546-BBC21253A4A0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BBA54F17-74CE-4E36-BA1D-03F92500238A}" type="presOf" srcId="{5561B71B-37E2-49A1-A546-BBC21253A4A0}" destId="{B8688C38-172D-4D32-B1CA-5B75A2830822}" srcOrd="0" destOrd="0" presId="urn:microsoft.com/office/officeart/2018/2/layout/IconLabelList"/>
    <dgm:cxn modelId="{D88039BA-9985-4145-AA04-D865EC7DA3AF}" type="presOf" srcId="{76BC1C6B-94C5-4063-AB79-13EC0E0FD72F}" destId="{87236179-3031-4E3B-BB95-0824B6EACF4A}" srcOrd="0" destOrd="0" presId="urn:microsoft.com/office/officeart/2018/2/layout/IconLabelList"/>
    <dgm:cxn modelId="{D573F6D7-D9BF-496A-929E-431C777D1022}" srcId="{76BC1C6B-94C5-4063-AB79-13EC0E0FD72F}" destId="{5561B71B-37E2-49A1-A546-BBC21253A4A0}" srcOrd="2" destOrd="0" parTransId="{78E6AFB5-711E-445C-ADE4-95B208BB0DD9}" sibTransId="{3A624C6C-BE0A-4132-900E-DE5A7C602490}"/>
    <dgm:cxn modelId="{B508E0DC-1275-4EB6-97D9-C131AB44F2D8}" srcId="{76BC1C6B-94C5-4063-AB79-13EC0E0FD72F}" destId="{07A24966-8CDB-4140-B850-7292D1BEDDCE}" srcOrd="0" destOrd="0" parTransId="{1CBACCDE-C908-4F06-89B7-594CED61AB67}" sibTransId="{E45413F5-14E5-43AF-99E9-DB9ED73D014A}"/>
    <dgm:cxn modelId="{031A3AE0-A776-46F8-8C81-BFCBC1135362}" srcId="{76BC1C6B-94C5-4063-AB79-13EC0E0FD72F}" destId="{291919EC-AF28-4864-B13F-216DE3FE9927}" srcOrd="1" destOrd="0" parTransId="{4FB1AAC2-54F3-409F-AF36-9A3F58DF4A2F}" sibTransId="{8E9BABFA-F683-4FD7-8147-AB7FA546DEEA}"/>
    <dgm:cxn modelId="{EDF476E2-1BA7-418C-92DA-7DE7E8DD5679}" type="presOf" srcId="{291919EC-AF28-4864-B13F-216DE3FE9927}" destId="{40072C87-079D-466C-A868-3E2E8A3A2EF0}" srcOrd="0" destOrd="0" presId="urn:microsoft.com/office/officeart/2018/2/layout/IconLabelList"/>
    <dgm:cxn modelId="{CF8B30EA-803C-4091-9346-F28447D26694}" type="presOf" srcId="{07A24966-8CDB-4140-B850-7292D1BEDDCE}" destId="{2D1CCC9A-7B04-49C7-9285-B1CADAF876E7}" srcOrd="0" destOrd="0" presId="urn:microsoft.com/office/officeart/2018/2/layout/IconLabelList"/>
    <dgm:cxn modelId="{68B4BD09-8E71-4952-9639-26434A14ED98}" type="presParOf" srcId="{87236179-3031-4E3B-BB95-0824B6EACF4A}" destId="{177C5A26-CBC9-47F4-9CAD-8878D27F001D}" srcOrd="0" destOrd="0" presId="urn:microsoft.com/office/officeart/2018/2/layout/IconLabelList"/>
    <dgm:cxn modelId="{74798043-2759-47A2-A291-2C87F29E6C6E}" type="presParOf" srcId="{177C5A26-CBC9-47F4-9CAD-8878D27F001D}" destId="{2CB74302-6423-45B1-892A-C029A974852C}" srcOrd="0" destOrd="0" presId="urn:microsoft.com/office/officeart/2018/2/layout/IconLabelList"/>
    <dgm:cxn modelId="{C69B6570-44BE-47C3-925A-DFE3D5B0C5A1}" type="presParOf" srcId="{177C5A26-CBC9-47F4-9CAD-8878D27F001D}" destId="{FD557BCD-A78B-43EA-98BE-84038FDE1E99}" srcOrd="1" destOrd="0" presId="urn:microsoft.com/office/officeart/2018/2/layout/IconLabelList"/>
    <dgm:cxn modelId="{C9E98BF3-249C-4124-B715-581B15779EBE}" type="presParOf" srcId="{177C5A26-CBC9-47F4-9CAD-8878D27F001D}" destId="{2D1CCC9A-7B04-49C7-9285-B1CADAF876E7}" srcOrd="2" destOrd="0" presId="urn:microsoft.com/office/officeart/2018/2/layout/IconLabelList"/>
    <dgm:cxn modelId="{16DD3ABB-B7FF-473D-B6B0-64E8A2407ADE}" type="presParOf" srcId="{87236179-3031-4E3B-BB95-0824B6EACF4A}" destId="{D49116C7-3F4E-46BC-8C92-17D05E757337}" srcOrd="1" destOrd="0" presId="urn:microsoft.com/office/officeart/2018/2/layout/IconLabelList"/>
    <dgm:cxn modelId="{AAF9747D-0A0E-4701-AF7A-2A60EA4C5F8C}" type="presParOf" srcId="{87236179-3031-4E3B-BB95-0824B6EACF4A}" destId="{EAC685C4-C2E9-4253-A67E-C9AC9D68F22D}" srcOrd="2" destOrd="0" presId="urn:microsoft.com/office/officeart/2018/2/layout/IconLabelList"/>
    <dgm:cxn modelId="{5630C562-95FE-42C0-8491-1CA02A134F57}" type="presParOf" srcId="{EAC685C4-C2E9-4253-A67E-C9AC9D68F22D}" destId="{C1B016C9-E3B1-4BD9-B4C1-1A5CD044360E}" srcOrd="0" destOrd="0" presId="urn:microsoft.com/office/officeart/2018/2/layout/IconLabelList"/>
    <dgm:cxn modelId="{6ACF964C-DF10-4B5F-A12F-12437A5E1034}" type="presParOf" srcId="{EAC685C4-C2E9-4253-A67E-C9AC9D68F22D}" destId="{8C6DD980-D829-4441-A7D5-68159E920700}" srcOrd="1" destOrd="0" presId="urn:microsoft.com/office/officeart/2018/2/layout/IconLabelList"/>
    <dgm:cxn modelId="{F15E4B7F-0A66-44BB-B792-F0AE57DAD432}" type="presParOf" srcId="{EAC685C4-C2E9-4253-A67E-C9AC9D68F22D}" destId="{40072C87-079D-466C-A868-3E2E8A3A2EF0}" srcOrd="2" destOrd="0" presId="urn:microsoft.com/office/officeart/2018/2/layout/IconLabelList"/>
    <dgm:cxn modelId="{81F21E31-2724-425C-A353-E6A91736A8C3}" type="presParOf" srcId="{87236179-3031-4E3B-BB95-0824B6EACF4A}" destId="{E2250C50-6D60-4B04-912A-AF87A3260138}" srcOrd="3" destOrd="0" presId="urn:microsoft.com/office/officeart/2018/2/layout/IconLabelList"/>
    <dgm:cxn modelId="{DBD9F0B1-0D4E-4B11-9504-F36483FEDE7C}" type="presParOf" srcId="{87236179-3031-4E3B-BB95-0824B6EACF4A}" destId="{86245D70-222C-4851-809A-4251C3C0A0AB}" srcOrd="4" destOrd="0" presId="urn:microsoft.com/office/officeart/2018/2/layout/IconLabelList"/>
    <dgm:cxn modelId="{5FD8F971-37B7-4F07-ABE3-F2933B9F7D9D}" type="presParOf" srcId="{86245D70-222C-4851-809A-4251C3C0A0AB}" destId="{2CD6E5E0-F52E-4293-AE97-65F67E421FD0}" srcOrd="0" destOrd="0" presId="urn:microsoft.com/office/officeart/2018/2/layout/IconLabelList"/>
    <dgm:cxn modelId="{CD3C4955-9F38-4DBD-86EB-052D222EFAB3}" type="presParOf" srcId="{86245D70-222C-4851-809A-4251C3C0A0AB}" destId="{5D228FDD-B473-4B61-970D-51C5CE5D8A99}" srcOrd="1" destOrd="0" presId="urn:microsoft.com/office/officeart/2018/2/layout/IconLabelList"/>
    <dgm:cxn modelId="{A62201E2-ED55-4337-8748-2F7BE7D255A4}" type="presParOf" srcId="{86245D70-222C-4851-809A-4251C3C0A0AB}" destId="{B8688C38-172D-4D32-B1CA-5B75A2830822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5.xml><?xml version="1.0" encoding="utf-8"?>
<dgm:dataModel xmlns:dgm="http://schemas.openxmlformats.org/drawingml/2006/diagram" xmlns:a="http://schemas.openxmlformats.org/drawingml/2006/main">
  <dgm:ptLst>
    <dgm:pt modelId="{F659BE51-E167-4172-8586-CFD6461D8193}" type="doc">
      <dgm:prSet loTypeId="urn:microsoft.com/office/officeart/2018/2/layout/IconVerticalSolid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1436D8E1-78C6-4272-BEE6-DAE95582CA46}">
      <dgm:prSet/>
      <dgm:spPr/>
      <dgm:t>
        <a:bodyPr/>
        <a:lstStyle/>
        <a:p>
          <a:r>
            <a:rPr lang="en-GB" b="1"/>
            <a:t>Cuisine Diversity</a:t>
          </a:r>
          <a:r>
            <a:rPr lang="en-GB"/>
            <a:t>: Indicator of market positioning and operational complexity </a:t>
          </a:r>
          <a:endParaRPr lang="en-US"/>
        </a:p>
      </dgm:t>
    </dgm:pt>
    <dgm:pt modelId="{F2CEBD22-C3A9-4563-823B-6D502725D986}" type="parTrans" cxnId="{B3025C1C-2A1E-42F3-98D4-13401B2DEBE0}">
      <dgm:prSet/>
      <dgm:spPr/>
      <dgm:t>
        <a:bodyPr/>
        <a:lstStyle/>
        <a:p>
          <a:endParaRPr lang="en-US"/>
        </a:p>
      </dgm:t>
    </dgm:pt>
    <dgm:pt modelId="{4D620D03-229C-4F85-A35F-0CF352C2B08A}" type="sibTrans" cxnId="{B3025C1C-2A1E-42F3-98D4-13401B2DEBE0}">
      <dgm:prSet/>
      <dgm:spPr/>
      <dgm:t>
        <a:bodyPr/>
        <a:lstStyle/>
        <a:p>
          <a:endParaRPr lang="en-US"/>
        </a:p>
      </dgm:t>
    </dgm:pt>
    <dgm:pt modelId="{2EF672F7-5857-4FD8-B241-536229F4825B}">
      <dgm:prSet/>
      <dgm:spPr/>
      <dgm:t>
        <a:bodyPr/>
        <a:lstStyle/>
        <a:p>
          <a:r>
            <a:rPr lang="en-GB" b="1"/>
            <a:t>Brand Factor (Chain vs Independent)</a:t>
          </a:r>
          <a:r>
            <a:rPr lang="en-GB"/>
            <a:t>: Associated with stability in rating distributions and operational consistency</a:t>
          </a:r>
          <a:endParaRPr lang="en-US"/>
        </a:p>
      </dgm:t>
    </dgm:pt>
    <dgm:pt modelId="{A39EF03E-E823-418E-BF51-5C649C58BAEF}" type="parTrans" cxnId="{71CA363E-B2A1-4160-B938-770962A8132C}">
      <dgm:prSet/>
      <dgm:spPr/>
      <dgm:t>
        <a:bodyPr/>
        <a:lstStyle/>
        <a:p>
          <a:endParaRPr lang="en-US"/>
        </a:p>
      </dgm:t>
    </dgm:pt>
    <dgm:pt modelId="{00E3C72F-7A64-469E-B5E7-E4E288644422}" type="sibTrans" cxnId="{71CA363E-B2A1-4160-B938-770962A8132C}">
      <dgm:prSet/>
      <dgm:spPr/>
      <dgm:t>
        <a:bodyPr/>
        <a:lstStyle/>
        <a:p>
          <a:endParaRPr lang="en-US"/>
        </a:p>
      </dgm:t>
    </dgm:pt>
    <dgm:pt modelId="{9E13412F-AFA0-4AEB-9A85-7EA6E95BD836}">
      <dgm:prSet/>
      <dgm:spPr/>
      <dgm:t>
        <a:bodyPr/>
        <a:lstStyle/>
        <a:p>
          <a:r>
            <a:rPr lang="en-GB" b="1" dirty="0"/>
            <a:t>Geographic Anchors </a:t>
          </a:r>
          <a:r>
            <a:rPr lang="en-US" b="1" dirty="0"/>
            <a:t>for handling missing values</a:t>
          </a:r>
          <a:r>
            <a:rPr lang="en-GB" b="1" dirty="0"/>
            <a:t>(Country)</a:t>
          </a:r>
          <a:r>
            <a:rPr lang="en-GB" dirty="0"/>
            <a:t>: Enable cross-market generalization and reduce local overfitting</a:t>
          </a:r>
          <a:endParaRPr lang="en-US" dirty="0"/>
        </a:p>
      </dgm:t>
    </dgm:pt>
    <dgm:pt modelId="{2FBD0A9C-DFBD-4ACA-8768-30B473A40966}" type="parTrans" cxnId="{B8A07F89-B1C1-41DA-8FBC-FA6E57FDFE4B}">
      <dgm:prSet/>
      <dgm:spPr/>
      <dgm:t>
        <a:bodyPr/>
        <a:lstStyle/>
        <a:p>
          <a:endParaRPr lang="en-US"/>
        </a:p>
      </dgm:t>
    </dgm:pt>
    <dgm:pt modelId="{6FA5B104-267A-4488-9DEA-AFD545DB19CF}" type="sibTrans" cxnId="{B8A07F89-B1C1-41DA-8FBC-FA6E57FDFE4B}">
      <dgm:prSet/>
      <dgm:spPr/>
      <dgm:t>
        <a:bodyPr/>
        <a:lstStyle/>
        <a:p>
          <a:endParaRPr lang="en-US"/>
        </a:p>
      </dgm:t>
    </dgm:pt>
    <dgm:pt modelId="{7BBF582A-23A9-47E8-8191-E86832EB2B8F}" type="pres">
      <dgm:prSet presAssocID="{F659BE51-E167-4172-8586-CFD6461D8193}" presName="root" presStyleCnt="0">
        <dgm:presLayoutVars>
          <dgm:dir/>
          <dgm:resizeHandles val="exact"/>
        </dgm:presLayoutVars>
      </dgm:prSet>
      <dgm:spPr/>
    </dgm:pt>
    <dgm:pt modelId="{0490C2F8-F5A9-45E7-AEE7-222D447A01F6}" type="pres">
      <dgm:prSet presAssocID="{1436D8E1-78C6-4272-BEE6-DAE95582CA46}" presName="compNode" presStyleCnt="0"/>
      <dgm:spPr/>
    </dgm:pt>
    <dgm:pt modelId="{9014C343-D797-431A-85B7-D78C970282C2}" type="pres">
      <dgm:prSet presAssocID="{1436D8E1-78C6-4272-BEE6-DAE95582CA46}" presName="bgRect" presStyleLbl="bgShp" presStyleIdx="0" presStyleCnt="3"/>
      <dgm:spPr/>
    </dgm:pt>
    <dgm:pt modelId="{4F035423-888E-40D5-B63D-44449263EDD3}" type="pres">
      <dgm:prSet presAssocID="{1436D8E1-78C6-4272-BEE6-DAE95582CA46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Fork and knife"/>
        </a:ext>
      </dgm:extLst>
    </dgm:pt>
    <dgm:pt modelId="{359DFF10-F1C0-4F89-9E4A-D051B5DCB9E6}" type="pres">
      <dgm:prSet presAssocID="{1436D8E1-78C6-4272-BEE6-DAE95582CA46}" presName="spaceRect" presStyleCnt="0"/>
      <dgm:spPr/>
    </dgm:pt>
    <dgm:pt modelId="{3C390398-B05B-4566-A248-62E26526D1B9}" type="pres">
      <dgm:prSet presAssocID="{1436D8E1-78C6-4272-BEE6-DAE95582CA46}" presName="parTx" presStyleLbl="revTx" presStyleIdx="0" presStyleCnt="3">
        <dgm:presLayoutVars>
          <dgm:chMax val="0"/>
          <dgm:chPref val="0"/>
        </dgm:presLayoutVars>
      </dgm:prSet>
      <dgm:spPr/>
    </dgm:pt>
    <dgm:pt modelId="{1B06B7E2-E932-4E40-8D07-FE664651B766}" type="pres">
      <dgm:prSet presAssocID="{4D620D03-229C-4F85-A35F-0CF352C2B08A}" presName="sibTrans" presStyleCnt="0"/>
      <dgm:spPr/>
    </dgm:pt>
    <dgm:pt modelId="{FCEB7824-BADC-44C6-A3AD-2206D3D0CC9A}" type="pres">
      <dgm:prSet presAssocID="{2EF672F7-5857-4FD8-B241-536229F4825B}" presName="compNode" presStyleCnt="0"/>
      <dgm:spPr/>
    </dgm:pt>
    <dgm:pt modelId="{829A68BD-4C96-4E49-9879-7809C07D0529}" type="pres">
      <dgm:prSet presAssocID="{2EF672F7-5857-4FD8-B241-536229F4825B}" presName="bgRect" presStyleLbl="bgShp" presStyleIdx="1" presStyleCnt="3"/>
      <dgm:spPr/>
    </dgm:pt>
    <dgm:pt modelId="{36B462E5-5978-4264-AC3B-10A0CC5DD3D4}" type="pres">
      <dgm:prSet presAssocID="{2EF672F7-5857-4FD8-B241-536229F4825B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cales of Justice"/>
        </a:ext>
      </dgm:extLst>
    </dgm:pt>
    <dgm:pt modelId="{C8DA2226-0A69-480D-B57E-CAE64E432F7D}" type="pres">
      <dgm:prSet presAssocID="{2EF672F7-5857-4FD8-B241-536229F4825B}" presName="spaceRect" presStyleCnt="0"/>
      <dgm:spPr/>
    </dgm:pt>
    <dgm:pt modelId="{EC4CB850-BFC6-44DC-B4BF-F64A9B3EE151}" type="pres">
      <dgm:prSet presAssocID="{2EF672F7-5857-4FD8-B241-536229F4825B}" presName="parTx" presStyleLbl="revTx" presStyleIdx="1" presStyleCnt="3">
        <dgm:presLayoutVars>
          <dgm:chMax val="0"/>
          <dgm:chPref val="0"/>
        </dgm:presLayoutVars>
      </dgm:prSet>
      <dgm:spPr/>
    </dgm:pt>
    <dgm:pt modelId="{88F730BC-5AC1-40E4-8F66-EB55A4E00CD2}" type="pres">
      <dgm:prSet presAssocID="{00E3C72F-7A64-469E-B5E7-E4E288644422}" presName="sibTrans" presStyleCnt="0"/>
      <dgm:spPr/>
    </dgm:pt>
    <dgm:pt modelId="{4EFA521C-DD92-486E-B737-40FD46EE3BB2}" type="pres">
      <dgm:prSet presAssocID="{9E13412F-AFA0-4AEB-9A85-7EA6E95BD836}" presName="compNode" presStyleCnt="0"/>
      <dgm:spPr/>
    </dgm:pt>
    <dgm:pt modelId="{6D6A7039-2C06-47EE-861B-40695E9C52BE}" type="pres">
      <dgm:prSet presAssocID="{9E13412F-AFA0-4AEB-9A85-7EA6E95BD836}" presName="bgRect" presStyleLbl="bgShp" presStyleIdx="2" presStyleCnt="3"/>
      <dgm:spPr/>
    </dgm:pt>
    <dgm:pt modelId="{0479DA6B-2101-41E5-BD99-1BA69CD3D0FE}" type="pres">
      <dgm:prSet presAssocID="{9E13412F-AFA0-4AEB-9A85-7EA6E95BD836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ghthouse scene"/>
        </a:ext>
      </dgm:extLst>
    </dgm:pt>
    <dgm:pt modelId="{CEDE3A9B-9EA5-4641-A68A-555D1A411138}" type="pres">
      <dgm:prSet presAssocID="{9E13412F-AFA0-4AEB-9A85-7EA6E95BD836}" presName="spaceRect" presStyleCnt="0"/>
      <dgm:spPr/>
    </dgm:pt>
    <dgm:pt modelId="{096C297B-21C6-451D-BD3E-191003FA086A}" type="pres">
      <dgm:prSet presAssocID="{9E13412F-AFA0-4AEB-9A85-7EA6E95BD836}" presName="parTx" presStyleLbl="revTx" presStyleIdx="2" presStyleCnt="3">
        <dgm:presLayoutVars>
          <dgm:chMax val="0"/>
          <dgm:chPref val="0"/>
        </dgm:presLayoutVars>
      </dgm:prSet>
      <dgm:spPr/>
    </dgm:pt>
  </dgm:ptLst>
  <dgm:cxnLst>
    <dgm:cxn modelId="{B3025C1C-2A1E-42F3-98D4-13401B2DEBE0}" srcId="{F659BE51-E167-4172-8586-CFD6461D8193}" destId="{1436D8E1-78C6-4272-BEE6-DAE95582CA46}" srcOrd="0" destOrd="0" parTransId="{F2CEBD22-C3A9-4563-823B-6D502725D986}" sibTransId="{4D620D03-229C-4F85-A35F-0CF352C2B08A}"/>
    <dgm:cxn modelId="{C6B40F38-23B6-47A0-8599-8E70E4264396}" type="presOf" srcId="{1436D8E1-78C6-4272-BEE6-DAE95582CA46}" destId="{3C390398-B05B-4566-A248-62E26526D1B9}" srcOrd="0" destOrd="0" presId="urn:microsoft.com/office/officeart/2018/2/layout/IconVerticalSolidList"/>
    <dgm:cxn modelId="{71CA363E-B2A1-4160-B938-770962A8132C}" srcId="{F659BE51-E167-4172-8586-CFD6461D8193}" destId="{2EF672F7-5857-4FD8-B241-536229F4825B}" srcOrd="1" destOrd="0" parTransId="{A39EF03E-E823-418E-BF51-5C649C58BAEF}" sibTransId="{00E3C72F-7A64-469E-B5E7-E4E288644422}"/>
    <dgm:cxn modelId="{86A2ED6F-B71F-443F-9566-ACB07A48DFE0}" type="presOf" srcId="{2EF672F7-5857-4FD8-B241-536229F4825B}" destId="{EC4CB850-BFC6-44DC-B4BF-F64A9B3EE151}" srcOrd="0" destOrd="0" presId="urn:microsoft.com/office/officeart/2018/2/layout/IconVerticalSolidList"/>
    <dgm:cxn modelId="{B8A07F89-B1C1-41DA-8FBC-FA6E57FDFE4B}" srcId="{F659BE51-E167-4172-8586-CFD6461D8193}" destId="{9E13412F-AFA0-4AEB-9A85-7EA6E95BD836}" srcOrd="2" destOrd="0" parTransId="{2FBD0A9C-DFBD-4ACA-8768-30B473A40966}" sibTransId="{6FA5B104-267A-4488-9DEA-AFD545DB19CF}"/>
    <dgm:cxn modelId="{467CEFA9-DCFA-436C-BAFD-90D880007166}" type="presOf" srcId="{9E13412F-AFA0-4AEB-9A85-7EA6E95BD836}" destId="{096C297B-21C6-451D-BD3E-191003FA086A}" srcOrd="0" destOrd="0" presId="urn:microsoft.com/office/officeart/2018/2/layout/IconVerticalSolidList"/>
    <dgm:cxn modelId="{DD783BC2-46EE-4B21-A319-C118A5FE3EC5}" type="presOf" srcId="{F659BE51-E167-4172-8586-CFD6461D8193}" destId="{7BBF582A-23A9-47E8-8191-E86832EB2B8F}" srcOrd="0" destOrd="0" presId="urn:microsoft.com/office/officeart/2018/2/layout/IconVerticalSolidList"/>
    <dgm:cxn modelId="{2E9F77D6-6D7D-4A55-BC1B-691AE885CEF7}" type="presParOf" srcId="{7BBF582A-23A9-47E8-8191-E86832EB2B8F}" destId="{0490C2F8-F5A9-45E7-AEE7-222D447A01F6}" srcOrd="0" destOrd="0" presId="urn:microsoft.com/office/officeart/2018/2/layout/IconVerticalSolidList"/>
    <dgm:cxn modelId="{99B9AD5A-3F6F-4F04-9653-6A1D43BDD098}" type="presParOf" srcId="{0490C2F8-F5A9-45E7-AEE7-222D447A01F6}" destId="{9014C343-D797-431A-85B7-D78C970282C2}" srcOrd="0" destOrd="0" presId="urn:microsoft.com/office/officeart/2018/2/layout/IconVerticalSolidList"/>
    <dgm:cxn modelId="{09A6A420-5BF0-42AF-B691-9A5522AB2AFF}" type="presParOf" srcId="{0490C2F8-F5A9-45E7-AEE7-222D447A01F6}" destId="{4F035423-888E-40D5-B63D-44449263EDD3}" srcOrd="1" destOrd="0" presId="urn:microsoft.com/office/officeart/2018/2/layout/IconVerticalSolidList"/>
    <dgm:cxn modelId="{C66B8625-547F-47E9-9078-44987D9B90D1}" type="presParOf" srcId="{0490C2F8-F5A9-45E7-AEE7-222D447A01F6}" destId="{359DFF10-F1C0-4F89-9E4A-D051B5DCB9E6}" srcOrd="2" destOrd="0" presId="urn:microsoft.com/office/officeart/2018/2/layout/IconVerticalSolidList"/>
    <dgm:cxn modelId="{0EFEA9D0-7BC4-4AE0-805D-BAAC46CCE862}" type="presParOf" srcId="{0490C2F8-F5A9-45E7-AEE7-222D447A01F6}" destId="{3C390398-B05B-4566-A248-62E26526D1B9}" srcOrd="3" destOrd="0" presId="urn:microsoft.com/office/officeart/2018/2/layout/IconVerticalSolidList"/>
    <dgm:cxn modelId="{FF3FF4B8-DFF9-4107-BB73-48963FFAC041}" type="presParOf" srcId="{7BBF582A-23A9-47E8-8191-E86832EB2B8F}" destId="{1B06B7E2-E932-4E40-8D07-FE664651B766}" srcOrd="1" destOrd="0" presId="urn:microsoft.com/office/officeart/2018/2/layout/IconVerticalSolidList"/>
    <dgm:cxn modelId="{45BE5B54-AA87-4A0B-AB3D-30B58E008C28}" type="presParOf" srcId="{7BBF582A-23A9-47E8-8191-E86832EB2B8F}" destId="{FCEB7824-BADC-44C6-A3AD-2206D3D0CC9A}" srcOrd="2" destOrd="0" presId="urn:microsoft.com/office/officeart/2018/2/layout/IconVerticalSolidList"/>
    <dgm:cxn modelId="{34717EC2-53B1-4046-805C-AD447F1B7D6E}" type="presParOf" srcId="{FCEB7824-BADC-44C6-A3AD-2206D3D0CC9A}" destId="{829A68BD-4C96-4E49-9879-7809C07D0529}" srcOrd="0" destOrd="0" presId="urn:microsoft.com/office/officeart/2018/2/layout/IconVerticalSolidList"/>
    <dgm:cxn modelId="{62BEDA29-3C96-4ECB-A956-3792B0D72052}" type="presParOf" srcId="{FCEB7824-BADC-44C6-A3AD-2206D3D0CC9A}" destId="{36B462E5-5978-4264-AC3B-10A0CC5DD3D4}" srcOrd="1" destOrd="0" presId="urn:microsoft.com/office/officeart/2018/2/layout/IconVerticalSolidList"/>
    <dgm:cxn modelId="{A9DE2802-CE9B-45A2-8DC8-546239E90223}" type="presParOf" srcId="{FCEB7824-BADC-44C6-A3AD-2206D3D0CC9A}" destId="{C8DA2226-0A69-480D-B57E-CAE64E432F7D}" srcOrd="2" destOrd="0" presId="urn:microsoft.com/office/officeart/2018/2/layout/IconVerticalSolidList"/>
    <dgm:cxn modelId="{B2B69F47-6987-48E9-B36C-23B121CD4063}" type="presParOf" srcId="{FCEB7824-BADC-44C6-A3AD-2206D3D0CC9A}" destId="{EC4CB850-BFC6-44DC-B4BF-F64A9B3EE151}" srcOrd="3" destOrd="0" presId="urn:microsoft.com/office/officeart/2018/2/layout/IconVerticalSolidList"/>
    <dgm:cxn modelId="{86225C61-16F4-4B38-B930-5545B4FFE4B2}" type="presParOf" srcId="{7BBF582A-23A9-47E8-8191-E86832EB2B8F}" destId="{88F730BC-5AC1-40E4-8F66-EB55A4E00CD2}" srcOrd="3" destOrd="0" presId="urn:microsoft.com/office/officeart/2018/2/layout/IconVerticalSolidList"/>
    <dgm:cxn modelId="{F7AC10A1-91B5-4BD2-A27C-45595D32F07C}" type="presParOf" srcId="{7BBF582A-23A9-47E8-8191-E86832EB2B8F}" destId="{4EFA521C-DD92-486E-B737-40FD46EE3BB2}" srcOrd="4" destOrd="0" presId="urn:microsoft.com/office/officeart/2018/2/layout/IconVerticalSolidList"/>
    <dgm:cxn modelId="{DED143AE-6958-4873-A498-5864B6068CB3}" type="presParOf" srcId="{4EFA521C-DD92-486E-B737-40FD46EE3BB2}" destId="{6D6A7039-2C06-47EE-861B-40695E9C52BE}" srcOrd="0" destOrd="0" presId="urn:microsoft.com/office/officeart/2018/2/layout/IconVerticalSolidList"/>
    <dgm:cxn modelId="{0547A77C-2C66-461E-B514-83FC77A42CAF}" type="presParOf" srcId="{4EFA521C-DD92-486E-B737-40FD46EE3BB2}" destId="{0479DA6B-2101-41E5-BD99-1BA69CD3D0FE}" srcOrd="1" destOrd="0" presId="urn:microsoft.com/office/officeart/2018/2/layout/IconVerticalSolidList"/>
    <dgm:cxn modelId="{E1C99AE2-6CA4-4B6F-A98D-DB65104AC6B1}" type="presParOf" srcId="{4EFA521C-DD92-486E-B737-40FD46EE3BB2}" destId="{CEDE3A9B-9EA5-4641-A68A-555D1A411138}" srcOrd="2" destOrd="0" presId="urn:microsoft.com/office/officeart/2018/2/layout/IconVerticalSolidList"/>
    <dgm:cxn modelId="{86F76F39-CFA3-4380-BC0F-2D7D2AE190B2}" type="presParOf" srcId="{4EFA521C-DD92-486E-B737-40FD46EE3BB2}" destId="{096C297B-21C6-451D-BD3E-191003FA086A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6.xml><?xml version="1.0" encoding="utf-8"?>
<dgm:dataModel xmlns:dgm="http://schemas.openxmlformats.org/drawingml/2006/diagram" xmlns:a="http://schemas.openxmlformats.org/drawingml/2006/main">
  <dgm:ptLst>
    <dgm:pt modelId="{4A120ED9-BAC2-478E-886E-A26859E0BAED}" type="doc">
      <dgm:prSet loTypeId="urn:microsoft.com/office/officeart/2018/2/layout/IconLabelList" loCatId="icon" qsTypeId="urn:microsoft.com/office/officeart/2005/8/quickstyle/simple1" qsCatId="simple" csTypeId="urn:microsoft.com/office/officeart/2018/5/colors/Iconchunking_neutralbg_colorful1" csCatId="colorful" phldr="1"/>
      <dgm:spPr/>
      <dgm:t>
        <a:bodyPr/>
        <a:lstStyle/>
        <a:p>
          <a:endParaRPr lang="en-US"/>
        </a:p>
      </dgm:t>
    </dgm:pt>
    <dgm:pt modelId="{E7569409-DCD6-4E3E-A8E3-B170A15C6FFC}">
      <dgm:prSet/>
      <dgm:spPr/>
      <dgm:t>
        <a:bodyPr/>
        <a:lstStyle/>
        <a:p>
          <a:r>
            <a:rPr lang="en-GB" dirty="0"/>
            <a:t>Dataset exhibits </a:t>
          </a:r>
          <a:r>
            <a:rPr lang="en-GB" b="1" dirty="0"/>
            <a:t>survivorship bias</a:t>
          </a:r>
          <a:r>
            <a:rPr lang="en-GB" dirty="0"/>
            <a:t> due to reliance on currently listed restaurants</a:t>
          </a:r>
          <a:endParaRPr lang="en-US" dirty="0"/>
        </a:p>
      </dgm:t>
    </dgm:pt>
    <dgm:pt modelId="{635C6206-FF72-4EBB-AC41-FF1F3A31903F}" type="parTrans" cxnId="{3632DD96-987E-4EF6-A08F-631B2F012B8C}">
      <dgm:prSet/>
      <dgm:spPr/>
      <dgm:t>
        <a:bodyPr/>
        <a:lstStyle/>
        <a:p>
          <a:endParaRPr lang="en-US"/>
        </a:p>
      </dgm:t>
    </dgm:pt>
    <dgm:pt modelId="{8C5F09DC-1CC8-48BD-BDDD-EA402A3564AA}" type="sibTrans" cxnId="{3632DD96-987E-4EF6-A08F-631B2F012B8C}">
      <dgm:prSet/>
      <dgm:spPr/>
      <dgm:t>
        <a:bodyPr/>
        <a:lstStyle/>
        <a:p>
          <a:endParaRPr lang="en-US"/>
        </a:p>
      </dgm:t>
    </dgm:pt>
    <dgm:pt modelId="{2615BC32-28AC-4E41-9E0A-51B2D9E9278B}">
      <dgm:prSet/>
      <dgm:spPr/>
      <dgm:t>
        <a:bodyPr/>
        <a:lstStyle/>
        <a:p>
          <a:r>
            <a:rPr lang="en-GB" dirty="0"/>
            <a:t>External macroeconomic variables are not included in the current model </a:t>
          </a:r>
          <a:endParaRPr lang="en-US" dirty="0"/>
        </a:p>
      </dgm:t>
    </dgm:pt>
    <dgm:pt modelId="{D7CFB7D8-6D49-4E7A-BFB9-BF96DFC7DE5A}" type="parTrans" cxnId="{B81754BE-7911-4B3A-89DB-C28929A45AF2}">
      <dgm:prSet/>
      <dgm:spPr/>
      <dgm:t>
        <a:bodyPr/>
        <a:lstStyle/>
        <a:p>
          <a:endParaRPr lang="en-US"/>
        </a:p>
      </dgm:t>
    </dgm:pt>
    <dgm:pt modelId="{F853A028-E06D-42F3-95E7-2C7928FC4F03}" type="sibTrans" cxnId="{B81754BE-7911-4B3A-89DB-C28929A45AF2}">
      <dgm:prSet/>
      <dgm:spPr/>
      <dgm:t>
        <a:bodyPr/>
        <a:lstStyle/>
        <a:p>
          <a:endParaRPr lang="en-US"/>
        </a:p>
      </dgm:t>
    </dgm:pt>
    <dgm:pt modelId="{8BF9707C-AF42-4566-B287-126EF4A2AA5E}">
      <dgm:prSet/>
      <dgm:spPr/>
      <dgm:t>
        <a:bodyPr/>
        <a:lstStyle/>
        <a:p>
          <a:r>
            <a:rPr lang="en-GB" dirty="0"/>
            <a:t>Predictions reflect historical behavioural patterns and do not capture real-time market shocks</a:t>
          </a:r>
          <a:endParaRPr lang="en-US" dirty="0"/>
        </a:p>
      </dgm:t>
    </dgm:pt>
    <dgm:pt modelId="{6708D8B9-6290-40B7-A5B6-D69FC594AE68}" type="parTrans" cxnId="{85F334CD-32D0-49B7-B295-B762E09BE9BD}">
      <dgm:prSet/>
      <dgm:spPr/>
      <dgm:t>
        <a:bodyPr/>
        <a:lstStyle/>
        <a:p>
          <a:endParaRPr lang="en-US"/>
        </a:p>
      </dgm:t>
    </dgm:pt>
    <dgm:pt modelId="{880B58B7-C78C-4C27-9650-D0C2D3DCE81A}" type="sibTrans" cxnId="{85F334CD-32D0-49B7-B295-B762E09BE9BD}">
      <dgm:prSet/>
      <dgm:spPr/>
      <dgm:t>
        <a:bodyPr/>
        <a:lstStyle/>
        <a:p>
          <a:endParaRPr lang="en-US"/>
        </a:p>
      </dgm:t>
    </dgm:pt>
    <dgm:pt modelId="{AF36B758-42F6-487B-975C-60D798681E6A}" type="pres">
      <dgm:prSet presAssocID="{4A120ED9-BAC2-478E-886E-A26859E0BAED}" presName="root" presStyleCnt="0">
        <dgm:presLayoutVars>
          <dgm:dir/>
          <dgm:resizeHandles val="exact"/>
        </dgm:presLayoutVars>
      </dgm:prSet>
      <dgm:spPr/>
    </dgm:pt>
    <dgm:pt modelId="{5541CC0D-6F19-4D77-BB63-F7B48AEE732A}" type="pres">
      <dgm:prSet presAssocID="{E7569409-DCD6-4E3E-A8E3-B170A15C6FFC}" presName="compNode" presStyleCnt="0"/>
      <dgm:spPr/>
    </dgm:pt>
    <dgm:pt modelId="{30F39FC2-DAC9-4E4A-B01F-4D0411855331}" type="pres">
      <dgm:prSet presAssocID="{E7569409-DCD6-4E3E-A8E3-B170A15C6FFC}" presName="iconRect" presStyleLbl="node1" presStyleIdx="0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Marker"/>
        </a:ext>
      </dgm:extLst>
    </dgm:pt>
    <dgm:pt modelId="{2D6E1453-59B2-4E35-AC05-2E9112ABA881}" type="pres">
      <dgm:prSet presAssocID="{E7569409-DCD6-4E3E-A8E3-B170A15C6FFC}" presName="spaceRect" presStyleCnt="0"/>
      <dgm:spPr/>
    </dgm:pt>
    <dgm:pt modelId="{45BF3606-FE1B-40AE-9E8C-5CB902E713E0}" type="pres">
      <dgm:prSet presAssocID="{E7569409-DCD6-4E3E-A8E3-B170A15C6FFC}" presName="textRect" presStyleLbl="revTx" presStyleIdx="0" presStyleCnt="3">
        <dgm:presLayoutVars>
          <dgm:chMax val="1"/>
          <dgm:chPref val="1"/>
        </dgm:presLayoutVars>
      </dgm:prSet>
      <dgm:spPr/>
    </dgm:pt>
    <dgm:pt modelId="{DB3525D0-E456-4A4E-98E7-C7A8FCBBB3AB}" type="pres">
      <dgm:prSet presAssocID="{8C5F09DC-1CC8-48BD-BDDD-EA402A3564AA}" presName="sibTrans" presStyleCnt="0"/>
      <dgm:spPr/>
    </dgm:pt>
    <dgm:pt modelId="{10045067-DB27-4267-B189-4798648484C7}" type="pres">
      <dgm:prSet presAssocID="{2615BC32-28AC-4E41-9E0A-51B2D9E9278B}" presName="compNode" presStyleCnt="0"/>
      <dgm:spPr/>
    </dgm:pt>
    <dgm:pt modelId="{FF2D4E90-FAD9-4F3D-B102-165B4A9FBF58}" type="pres">
      <dgm:prSet presAssocID="{2615BC32-28AC-4E41-9E0A-51B2D9E9278B}" presName="iconRect" presStyleLbl="node1" presStyleIdx="1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pward trend"/>
        </a:ext>
      </dgm:extLst>
    </dgm:pt>
    <dgm:pt modelId="{BE815F00-5C01-4669-852C-56293C5CE0A5}" type="pres">
      <dgm:prSet presAssocID="{2615BC32-28AC-4E41-9E0A-51B2D9E9278B}" presName="spaceRect" presStyleCnt="0"/>
      <dgm:spPr/>
    </dgm:pt>
    <dgm:pt modelId="{FCF2A0BA-A79F-44A6-BCA6-1888BAD93B59}" type="pres">
      <dgm:prSet presAssocID="{2615BC32-28AC-4E41-9E0A-51B2D9E9278B}" presName="textRect" presStyleLbl="revTx" presStyleIdx="1" presStyleCnt="3">
        <dgm:presLayoutVars>
          <dgm:chMax val="1"/>
          <dgm:chPref val="1"/>
        </dgm:presLayoutVars>
      </dgm:prSet>
      <dgm:spPr/>
    </dgm:pt>
    <dgm:pt modelId="{F104CF34-7C04-48AC-A0D8-CFA7B979E1A7}" type="pres">
      <dgm:prSet presAssocID="{F853A028-E06D-42F3-95E7-2C7928FC4F03}" presName="sibTrans" presStyleCnt="0"/>
      <dgm:spPr/>
    </dgm:pt>
    <dgm:pt modelId="{E5C09ABE-6DD2-449F-8666-16CAB369AFCE}" type="pres">
      <dgm:prSet presAssocID="{8BF9707C-AF42-4566-B287-126EF4A2AA5E}" presName="compNode" presStyleCnt="0"/>
      <dgm:spPr/>
    </dgm:pt>
    <dgm:pt modelId="{934A1AB7-33F0-4202-A450-8125BD6F3E2E}" type="pres">
      <dgm:prSet presAssocID="{8BF9707C-AF42-4566-B287-126EF4A2AA5E}" presName="iconRect" presStyleLbl="node1" presStyleIdx="2" presStyleCnt="3"/>
      <dgm:spPr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tatistics"/>
        </a:ext>
      </dgm:extLst>
    </dgm:pt>
    <dgm:pt modelId="{5C80AD94-5097-457F-80E3-7B5A36197115}" type="pres">
      <dgm:prSet presAssocID="{8BF9707C-AF42-4566-B287-126EF4A2AA5E}" presName="spaceRect" presStyleCnt="0"/>
      <dgm:spPr/>
    </dgm:pt>
    <dgm:pt modelId="{B88462F2-245D-4D5C-AA7A-9BCA99A48934}" type="pres">
      <dgm:prSet presAssocID="{8BF9707C-AF42-4566-B287-126EF4A2AA5E}" presName="textRect" presStyleLbl="revTx" presStyleIdx="2" presStyleCnt="3">
        <dgm:presLayoutVars>
          <dgm:chMax val="1"/>
          <dgm:chPref val="1"/>
        </dgm:presLayoutVars>
      </dgm:prSet>
      <dgm:spPr/>
    </dgm:pt>
  </dgm:ptLst>
  <dgm:cxnLst>
    <dgm:cxn modelId="{A7E32C0F-CAF7-4188-A717-BD97F5BAD171}" type="presOf" srcId="{8BF9707C-AF42-4566-B287-126EF4A2AA5E}" destId="{B88462F2-245D-4D5C-AA7A-9BCA99A48934}" srcOrd="0" destOrd="0" presId="urn:microsoft.com/office/officeart/2018/2/layout/IconLabelList"/>
    <dgm:cxn modelId="{9EBD8751-6E54-4BA5-9E2A-D9C9B7A3C8D4}" type="presOf" srcId="{2615BC32-28AC-4E41-9E0A-51B2D9E9278B}" destId="{FCF2A0BA-A79F-44A6-BCA6-1888BAD93B59}" srcOrd="0" destOrd="0" presId="urn:microsoft.com/office/officeart/2018/2/layout/IconLabelList"/>
    <dgm:cxn modelId="{3632DD96-987E-4EF6-A08F-631B2F012B8C}" srcId="{4A120ED9-BAC2-478E-886E-A26859E0BAED}" destId="{E7569409-DCD6-4E3E-A8E3-B170A15C6FFC}" srcOrd="0" destOrd="0" parTransId="{635C6206-FF72-4EBB-AC41-FF1F3A31903F}" sibTransId="{8C5F09DC-1CC8-48BD-BDDD-EA402A3564AA}"/>
    <dgm:cxn modelId="{111019B4-7F4B-4078-9E3F-0A43FD8F6902}" type="presOf" srcId="{4A120ED9-BAC2-478E-886E-A26859E0BAED}" destId="{AF36B758-42F6-487B-975C-60D798681E6A}" srcOrd="0" destOrd="0" presId="urn:microsoft.com/office/officeart/2018/2/layout/IconLabelList"/>
    <dgm:cxn modelId="{B81754BE-7911-4B3A-89DB-C28929A45AF2}" srcId="{4A120ED9-BAC2-478E-886E-A26859E0BAED}" destId="{2615BC32-28AC-4E41-9E0A-51B2D9E9278B}" srcOrd="1" destOrd="0" parTransId="{D7CFB7D8-6D49-4E7A-BFB9-BF96DFC7DE5A}" sibTransId="{F853A028-E06D-42F3-95E7-2C7928FC4F03}"/>
    <dgm:cxn modelId="{85F334CD-32D0-49B7-B295-B762E09BE9BD}" srcId="{4A120ED9-BAC2-478E-886E-A26859E0BAED}" destId="{8BF9707C-AF42-4566-B287-126EF4A2AA5E}" srcOrd="2" destOrd="0" parTransId="{6708D8B9-6290-40B7-A5B6-D69FC594AE68}" sibTransId="{880B58B7-C78C-4C27-9650-D0C2D3DCE81A}"/>
    <dgm:cxn modelId="{05F2B1D2-3F79-4BE0-A32A-8A2140D4122E}" type="presOf" srcId="{E7569409-DCD6-4E3E-A8E3-B170A15C6FFC}" destId="{45BF3606-FE1B-40AE-9E8C-5CB902E713E0}" srcOrd="0" destOrd="0" presId="urn:microsoft.com/office/officeart/2018/2/layout/IconLabelList"/>
    <dgm:cxn modelId="{BF7C0459-FD94-4694-AC31-D6B170163898}" type="presParOf" srcId="{AF36B758-42F6-487B-975C-60D798681E6A}" destId="{5541CC0D-6F19-4D77-BB63-F7B48AEE732A}" srcOrd="0" destOrd="0" presId="urn:microsoft.com/office/officeart/2018/2/layout/IconLabelList"/>
    <dgm:cxn modelId="{D78C943D-B196-4A70-9469-4B777E9562C5}" type="presParOf" srcId="{5541CC0D-6F19-4D77-BB63-F7B48AEE732A}" destId="{30F39FC2-DAC9-4E4A-B01F-4D0411855331}" srcOrd="0" destOrd="0" presId="urn:microsoft.com/office/officeart/2018/2/layout/IconLabelList"/>
    <dgm:cxn modelId="{6A6B7F36-95B8-47AC-A2A3-F6B8A809A54F}" type="presParOf" srcId="{5541CC0D-6F19-4D77-BB63-F7B48AEE732A}" destId="{2D6E1453-59B2-4E35-AC05-2E9112ABA881}" srcOrd="1" destOrd="0" presId="urn:microsoft.com/office/officeart/2018/2/layout/IconLabelList"/>
    <dgm:cxn modelId="{045ECE4F-27A9-43C7-941A-DFBAECEC6BD9}" type="presParOf" srcId="{5541CC0D-6F19-4D77-BB63-F7B48AEE732A}" destId="{45BF3606-FE1B-40AE-9E8C-5CB902E713E0}" srcOrd="2" destOrd="0" presId="urn:microsoft.com/office/officeart/2018/2/layout/IconLabelList"/>
    <dgm:cxn modelId="{955E6C94-EE1A-4691-9F7B-8C46BEE51F39}" type="presParOf" srcId="{AF36B758-42F6-487B-975C-60D798681E6A}" destId="{DB3525D0-E456-4A4E-98E7-C7A8FCBBB3AB}" srcOrd="1" destOrd="0" presId="urn:microsoft.com/office/officeart/2018/2/layout/IconLabelList"/>
    <dgm:cxn modelId="{AC1E5B90-63D6-4916-855F-170A5E054B17}" type="presParOf" srcId="{AF36B758-42F6-487B-975C-60D798681E6A}" destId="{10045067-DB27-4267-B189-4798648484C7}" srcOrd="2" destOrd="0" presId="urn:microsoft.com/office/officeart/2018/2/layout/IconLabelList"/>
    <dgm:cxn modelId="{E0894F47-BAAA-4052-A33F-2A8C337220FF}" type="presParOf" srcId="{10045067-DB27-4267-B189-4798648484C7}" destId="{FF2D4E90-FAD9-4F3D-B102-165B4A9FBF58}" srcOrd="0" destOrd="0" presId="urn:microsoft.com/office/officeart/2018/2/layout/IconLabelList"/>
    <dgm:cxn modelId="{F5B4517F-F5CD-4B7A-9026-DA9FCC147D32}" type="presParOf" srcId="{10045067-DB27-4267-B189-4798648484C7}" destId="{BE815F00-5C01-4669-852C-56293C5CE0A5}" srcOrd="1" destOrd="0" presId="urn:microsoft.com/office/officeart/2018/2/layout/IconLabelList"/>
    <dgm:cxn modelId="{F3C9982B-E0F2-4415-AC9D-7C9CBC7877F1}" type="presParOf" srcId="{10045067-DB27-4267-B189-4798648484C7}" destId="{FCF2A0BA-A79F-44A6-BCA6-1888BAD93B59}" srcOrd="2" destOrd="0" presId="urn:microsoft.com/office/officeart/2018/2/layout/IconLabelList"/>
    <dgm:cxn modelId="{4A7CC29D-3E2B-4DFD-AA4A-60A5532B89BD}" type="presParOf" srcId="{AF36B758-42F6-487B-975C-60D798681E6A}" destId="{F104CF34-7C04-48AC-A0D8-CFA7B979E1A7}" srcOrd="3" destOrd="0" presId="urn:microsoft.com/office/officeart/2018/2/layout/IconLabelList"/>
    <dgm:cxn modelId="{E99E2655-2797-47C6-B794-58CCF862CA0E}" type="presParOf" srcId="{AF36B758-42F6-487B-975C-60D798681E6A}" destId="{E5C09ABE-6DD2-449F-8666-16CAB369AFCE}" srcOrd="4" destOrd="0" presId="urn:microsoft.com/office/officeart/2018/2/layout/IconLabelList"/>
    <dgm:cxn modelId="{38EE80C8-AD97-4150-82DD-15B2D7F4D65E}" type="presParOf" srcId="{E5C09ABE-6DD2-449F-8666-16CAB369AFCE}" destId="{934A1AB7-33F0-4202-A450-8125BD6F3E2E}" srcOrd="0" destOrd="0" presId="urn:microsoft.com/office/officeart/2018/2/layout/IconLabelList"/>
    <dgm:cxn modelId="{A74F29B4-A809-4DB0-AF8B-54E4F1A9932B}" type="presParOf" srcId="{E5C09ABE-6DD2-449F-8666-16CAB369AFCE}" destId="{5C80AD94-5097-457F-80E3-7B5A36197115}" srcOrd="1" destOrd="0" presId="urn:microsoft.com/office/officeart/2018/2/layout/IconLabelList"/>
    <dgm:cxn modelId="{3730A52C-C2A3-4062-9FE7-35772826D85E}" type="presParOf" srcId="{E5C09ABE-6DD2-449F-8666-16CAB369AFCE}" destId="{B88462F2-245D-4D5C-AA7A-9BCA99A48934}" srcOrd="2" destOrd="0" presId="urn:microsoft.com/office/officeart/2018/2/layout/IconLabel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A3F5DF3-C4CE-4E5A-AE72-944873FF6A14}">
      <dsp:nvSpPr>
        <dsp:cNvPr id="0" name=""/>
        <dsp:cNvSpPr/>
      </dsp:nvSpPr>
      <dsp:spPr>
        <a:xfrm>
          <a:off x="1053248" y="1373"/>
          <a:ext cx="1818562" cy="1818562"/>
        </a:xfrm>
        <a:prstGeom prst="ellipse">
          <a:avLst/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5958DB1-68FC-430B-90F0-0B7E9AFA3AE2}">
      <dsp:nvSpPr>
        <dsp:cNvPr id="0" name=""/>
        <dsp:cNvSpPr/>
      </dsp:nvSpPr>
      <dsp:spPr>
        <a:xfrm>
          <a:off x="1440811" y="388936"/>
          <a:ext cx="1043437" cy="10434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5393D0F-B714-459C-BBB7-58B78701ACFA}">
      <dsp:nvSpPr>
        <dsp:cNvPr id="0" name=""/>
        <dsp:cNvSpPr/>
      </dsp:nvSpPr>
      <dsp:spPr>
        <a:xfrm>
          <a:off x="471905" y="2386374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1" kern="1200" dirty="0"/>
            <a:t>Individual Investors</a:t>
          </a:r>
          <a:endParaRPr lang="en-US" sz="1600" kern="1200" dirty="0"/>
        </a:p>
      </dsp:txBody>
      <dsp:txXfrm>
        <a:off x="471905" y="2386374"/>
        <a:ext cx="2981250" cy="720000"/>
      </dsp:txXfrm>
    </dsp:sp>
    <dsp:sp modelId="{8EB16EF0-1715-45F9-BC50-20E6817AAEBD}">
      <dsp:nvSpPr>
        <dsp:cNvPr id="0" name=""/>
        <dsp:cNvSpPr/>
      </dsp:nvSpPr>
      <dsp:spPr>
        <a:xfrm>
          <a:off x="4556217" y="1373"/>
          <a:ext cx="1818562" cy="1818562"/>
        </a:xfrm>
        <a:prstGeom prst="ellipse">
          <a:avLst/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43AB1A3-C287-4369-AEAD-47DDFC04D1C4}">
      <dsp:nvSpPr>
        <dsp:cNvPr id="0" name=""/>
        <dsp:cNvSpPr/>
      </dsp:nvSpPr>
      <dsp:spPr>
        <a:xfrm>
          <a:off x="4943780" y="388936"/>
          <a:ext cx="1043437" cy="1043437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A50F958D-918D-4EFA-84B2-DE19A23386DA}">
      <dsp:nvSpPr>
        <dsp:cNvPr id="0" name=""/>
        <dsp:cNvSpPr/>
      </dsp:nvSpPr>
      <dsp:spPr>
        <a:xfrm>
          <a:off x="3974873" y="2386374"/>
          <a:ext cx="298125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1120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  <a:defRPr cap="all"/>
          </a:pPr>
          <a:r>
            <a:rPr lang="en-US" sz="1600" b="1" kern="1200" dirty="0"/>
            <a:t>Banks, Insurance companies and Lenders</a:t>
          </a:r>
        </a:p>
      </dsp:txBody>
      <dsp:txXfrm>
        <a:off x="3974873" y="2386374"/>
        <a:ext cx="2981250" cy="72000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D0290B13-3491-4589-99A0-F410F5CEDBA0}">
      <dsp:nvSpPr>
        <dsp:cNvPr id="0" name=""/>
        <dsp:cNvSpPr/>
      </dsp:nvSpPr>
      <dsp:spPr>
        <a:xfrm>
          <a:off x="1130019" y="373804"/>
          <a:ext cx="1285965" cy="12859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15E48B2-4D25-4128-861D-6E8B10B49F39}">
      <dsp:nvSpPr>
        <dsp:cNvPr id="0" name=""/>
        <dsp:cNvSpPr/>
      </dsp:nvSpPr>
      <dsp:spPr>
        <a:xfrm>
          <a:off x="344152" y="2013943"/>
          <a:ext cx="28577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Investment decisions are driven by </a:t>
          </a:r>
          <a:r>
            <a:rPr lang="en-GB" sz="1400" b="1" kern="1200" dirty="0"/>
            <a:t>cost asymmetry</a:t>
          </a:r>
          <a:r>
            <a:rPr lang="en-GB" sz="1400" kern="1200" dirty="0"/>
            <a:t>, where capital loss risk outweighs missed opportunity cost </a:t>
          </a:r>
          <a:endParaRPr lang="en-US" sz="1400" kern="1200" dirty="0"/>
        </a:p>
      </dsp:txBody>
      <dsp:txXfrm>
        <a:off x="344152" y="2013943"/>
        <a:ext cx="2857700" cy="720000"/>
      </dsp:txXfrm>
    </dsp:sp>
    <dsp:sp modelId="{9F84F375-4B0A-43EF-94A3-53D298A2670E}">
      <dsp:nvSpPr>
        <dsp:cNvPr id="0" name=""/>
        <dsp:cNvSpPr/>
      </dsp:nvSpPr>
      <dsp:spPr>
        <a:xfrm>
          <a:off x="4487817" y="373804"/>
          <a:ext cx="1285965" cy="12859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6D5CD3F8-F145-41A2-A98E-BCBAB88ED1C7}">
      <dsp:nvSpPr>
        <dsp:cNvPr id="0" name=""/>
        <dsp:cNvSpPr/>
      </dsp:nvSpPr>
      <dsp:spPr>
        <a:xfrm>
          <a:off x="3701950" y="2013943"/>
          <a:ext cx="28577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The system is designed as a </a:t>
          </a:r>
          <a:r>
            <a:rPr lang="en-GB" sz="1400" b="1" kern="1200" dirty="0"/>
            <a:t>precision-first framework</a:t>
          </a:r>
          <a:r>
            <a:rPr lang="en-GB" sz="1400" kern="1200" dirty="0"/>
            <a:t> for conservative capital allocation </a:t>
          </a:r>
          <a:endParaRPr lang="en-US" sz="1400" kern="1200" dirty="0"/>
        </a:p>
      </dsp:txBody>
      <dsp:txXfrm>
        <a:off x="3701950" y="2013943"/>
        <a:ext cx="2857700" cy="720000"/>
      </dsp:txXfrm>
    </dsp:sp>
    <dsp:sp modelId="{53CDD898-1BF1-49DA-A2BE-0071CE9A22B9}">
      <dsp:nvSpPr>
        <dsp:cNvPr id="0" name=""/>
        <dsp:cNvSpPr/>
      </dsp:nvSpPr>
      <dsp:spPr>
        <a:xfrm>
          <a:off x="7845615" y="373804"/>
          <a:ext cx="1285965" cy="12859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77484D4A-89F5-488E-ABC2-8BA606683E4B}">
      <dsp:nvSpPr>
        <dsp:cNvPr id="0" name=""/>
        <dsp:cNvSpPr/>
      </dsp:nvSpPr>
      <dsp:spPr>
        <a:xfrm>
          <a:off x="7059747" y="2013943"/>
          <a:ext cx="28577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400" kern="1200" dirty="0"/>
            <a:t>The model targets a strict </a:t>
          </a:r>
          <a:r>
            <a:rPr lang="en-GB" sz="1400" b="1" kern="1200" dirty="0"/>
            <a:t>80% precision threshold</a:t>
          </a:r>
          <a:r>
            <a:rPr lang="en-GB" sz="1400" kern="1200" dirty="0"/>
            <a:t> for recommended investments</a:t>
          </a:r>
          <a:endParaRPr lang="en-US" sz="1400" kern="1200" dirty="0"/>
        </a:p>
      </dsp:txBody>
      <dsp:txXfrm>
        <a:off x="7059747" y="2013943"/>
        <a:ext cx="2857700" cy="720000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33DF67E-138B-4211-80D5-A01540F1956B}">
      <dsp:nvSpPr>
        <dsp:cNvPr id="0" name=""/>
        <dsp:cNvSpPr/>
      </dsp:nvSpPr>
      <dsp:spPr>
        <a:xfrm>
          <a:off x="0" y="800734"/>
          <a:ext cx="5607050" cy="1478280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E9A8D5FC-34E1-48DB-8438-F87B5EF29DE8}">
      <dsp:nvSpPr>
        <dsp:cNvPr id="0" name=""/>
        <dsp:cNvSpPr/>
      </dsp:nvSpPr>
      <dsp:spPr>
        <a:xfrm>
          <a:off x="447179" y="1133347"/>
          <a:ext cx="813054" cy="81305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5417658-30AD-4E98-A7D2-641B702CD011}">
      <dsp:nvSpPr>
        <dsp:cNvPr id="0" name=""/>
        <dsp:cNvSpPr/>
      </dsp:nvSpPr>
      <dsp:spPr>
        <a:xfrm>
          <a:off x="1707413" y="800734"/>
          <a:ext cx="3899636" cy="1478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51" tIns="156451" rIns="156451" bIns="156451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Raw Data → Signal Extraction → Predictive Modeling → Risk Filtering → Investment Decision</a:t>
          </a:r>
        </a:p>
      </dsp:txBody>
      <dsp:txXfrm>
        <a:off x="1707413" y="800734"/>
        <a:ext cx="3899636" cy="1478280"/>
      </dsp:txXfrm>
    </dsp:sp>
    <dsp:sp modelId="{0FD1CABD-B46D-4100-B690-4AD93A273B37}">
      <dsp:nvSpPr>
        <dsp:cNvPr id="0" name=""/>
        <dsp:cNvSpPr/>
      </dsp:nvSpPr>
      <dsp:spPr>
        <a:xfrm>
          <a:off x="0" y="2648585"/>
          <a:ext cx="5607050" cy="1478280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7A47ACA-9B35-49A3-B360-C40E9F61B6AD}">
      <dsp:nvSpPr>
        <dsp:cNvPr id="0" name=""/>
        <dsp:cNvSpPr/>
      </dsp:nvSpPr>
      <dsp:spPr>
        <a:xfrm>
          <a:off x="447179" y="2981198"/>
          <a:ext cx="813054" cy="813054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CB5A38B-2AA5-4745-B93E-A38872C35949}">
      <dsp:nvSpPr>
        <dsp:cNvPr id="0" name=""/>
        <dsp:cNvSpPr/>
      </dsp:nvSpPr>
      <dsp:spPr>
        <a:xfrm>
          <a:off x="1707413" y="2648585"/>
          <a:ext cx="3899636" cy="147828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6451" tIns="156451" rIns="156451" bIns="156451" numCol="1" spcCol="1270" anchor="ctr" anchorCtr="0">
          <a:noAutofit/>
        </a:bodyPr>
        <a:lstStyle/>
        <a:p>
          <a:pPr marL="0" lvl="0" indent="0" algn="l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500" kern="1200"/>
            <a:t>A structured pipeline that transforms raw behavioral and geographic data into actionable investment signals. Each stage is optimized to progressively refine high-probability success candidates for final selection.</a:t>
          </a:r>
        </a:p>
      </dsp:txBody>
      <dsp:txXfrm>
        <a:off x="1707413" y="2648585"/>
        <a:ext cx="3899636" cy="147828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CB74302-6423-45B1-892A-C029A974852C}">
      <dsp:nvSpPr>
        <dsp:cNvPr id="0" name=""/>
        <dsp:cNvSpPr/>
      </dsp:nvSpPr>
      <dsp:spPr>
        <a:xfrm>
          <a:off x="1130019" y="373804"/>
          <a:ext cx="1285965" cy="12859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D1CCC9A-7B04-49C7-9285-B1CADAF876E7}">
      <dsp:nvSpPr>
        <dsp:cNvPr id="0" name=""/>
        <dsp:cNvSpPr/>
      </dsp:nvSpPr>
      <dsp:spPr>
        <a:xfrm>
          <a:off x="344152" y="2013943"/>
          <a:ext cx="28577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Restaurants with fewer than 20 reviews were excluded to reduce statistical noise</a:t>
          </a:r>
          <a:endParaRPr lang="en-US" sz="1500" kern="1200"/>
        </a:p>
      </dsp:txBody>
      <dsp:txXfrm>
        <a:off x="344152" y="2013943"/>
        <a:ext cx="2857700" cy="720000"/>
      </dsp:txXfrm>
    </dsp:sp>
    <dsp:sp modelId="{C1B016C9-E3B1-4BD9-B4C1-1A5CD044360E}">
      <dsp:nvSpPr>
        <dsp:cNvPr id="0" name=""/>
        <dsp:cNvSpPr/>
      </dsp:nvSpPr>
      <dsp:spPr>
        <a:xfrm>
          <a:off x="4487817" y="373804"/>
          <a:ext cx="1285965" cy="12859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0072C87-079D-466C-A868-3E2E8A3A2EF0}">
      <dsp:nvSpPr>
        <dsp:cNvPr id="0" name=""/>
        <dsp:cNvSpPr/>
      </dsp:nvSpPr>
      <dsp:spPr>
        <a:xfrm>
          <a:off x="3701950" y="2013943"/>
          <a:ext cx="28577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This ensures rating signals reflect </a:t>
          </a:r>
          <a:r>
            <a:rPr lang="en-GB" sz="1500" b="1" kern="1200"/>
            <a:t>stable market consensus rather than short-term variance</a:t>
          </a:r>
          <a:endParaRPr lang="en-US" sz="1500" kern="1200"/>
        </a:p>
      </dsp:txBody>
      <dsp:txXfrm>
        <a:off x="3701950" y="2013943"/>
        <a:ext cx="2857700" cy="720000"/>
      </dsp:txXfrm>
    </dsp:sp>
    <dsp:sp modelId="{2CD6E5E0-F52E-4293-AE97-65F67E421FD0}">
      <dsp:nvSpPr>
        <dsp:cNvPr id="0" name=""/>
        <dsp:cNvSpPr/>
      </dsp:nvSpPr>
      <dsp:spPr>
        <a:xfrm>
          <a:off x="7845615" y="373804"/>
          <a:ext cx="1285965" cy="12859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688C38-172D-4D32-B1CA-5B75A2830822}">
      <dsp:nvSpPr>
        <dsp:cNvPr id="0" name=""/>
        <dsp:cNvSpPr/>
      </dsp:nvSpPr>
      <dsp:spPr>
        <a:xfrm>
          <a:off x="7059747" y="2013943"/>
          <a:ext cx="28577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6667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500" kern="1200"/>
            <a:t>The final dataset represents a reliable baseline for predictive modeling</a:t>
          </a:r>
          <a:endParaRPr lang="en-US" sz="1500" kern="1200"/>
        </a:p>
      </dsp:txBody>
      <dsp:txXfrm>
        <a:off x="7059747" y="2013943"/>
        <a:ext cx="2857700" cy="720000"/>
      </dsp:txXfrm>
    </dsp:sp>
  </dsp:spTree>
</dsp:drawing>
</file>

<file path=ppt/diagrams/drawing5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9014C343-D797-431A-85B7-D78C970282C2}">
      <dsp:nvSpPr>
        <dsp:cNvPr id="0" name=""/>
        <dsp:cNvSpPr/>
      </dsp:nvSpPr>
      <dsp:spPr>
        <a:xfrm>
          <a:off x="0" y="642"/>
          <a:ext cx="6532102" cy="150405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035423-888E-40D5-B63D-44449263EDD3}">
      <dsp:nvSpPr>
        <dsp:cNvPr id="0" name=""/>
        <dsp:cNvSpPr/>
      </dsp:nvSpPr>
      <dsp:spPr>
        <a:xfrm>
          <a:off x="454976" y="339055"/>
          <a:ext cx="827230" cy="8272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C390398-B05B-4566-A248-62E26526D1B9}">
      <dsp:nvSpPr>
        <dsp:cNvPr id="0" name=""/>
        <dsp:cNvSpPr/>
      </dsp:nvSpPr>
      <dsp:spPr>
        <a:xfrm>
          <a:off x="1737184" y="642"/>
          <a:ext cx="4794918" cy="15040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179" tIns="159179" rIns="159179" bIns="159179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/>
            <a:t>Cuisine Diversity</a:t>
          </a:r>
          <a:r>
            <a:rPr lang="en-GB" sz="2200" kern="1200"/>
            <a:t>: Indicator of market positioning and operational complexity </a:t>
          </a:r>
          <a:endParaRPr lang="en-US" sz="2200" kern="1200"/>
        </a:p>
      </dsp:txBody>
      <dsp:txXfrm>
        <a:off x="1737184" y="642"/>
        <a:ext cx="4794918" cy="1504056"/>
      </dsp:txXfrm>
    </dsp:sp>
    <dsp:sp modelId="{829A68BD-4C96-4E49-9879-7809C07D0529}">
      <dsp:nvSpPr>
        <dsp:cNvPr id="0" name=""/>
        <dsp:cNvSpPr/>
      </dsp:nvSpPr>
      <dsp:spPr>
        <a:xfrm>
          <a:off x="0" y="1880712"/>
          <a:ext cx="6532102" cy="150405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6B462E5-5978-4264-AC3B-10A0CC5DD3D4}">
      <dsp:nvSpPr>
        <dsp:cNvPr id="0" name=""/>
        <dsp:cNvSpPr/>
      </dsp:nvSpPr>
      <dsp:spPr>
        <a:xfrm>
          <a:off x="454976" y="2219125"/>
          <a:ext cx="827230" cy="8272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C4CB850-BFC6-44DC-B4BF-F64A9B3EE151}">
      <dsp:nvSpPr>
        <dsp:cNvPr id="0" name=""/>
        <dsp:cNvSpPr/>
      </dsp:nvSpPr>
      <dsp:spPr>
        <a:xfrm>
          <a:off x="1737184" y="1880712"/>
          <a:ext cx="4794918" cy="15040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179" tIns="159179" rIns="159179" bIns="159179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/>
            <a:t>Brand Factor (Chain vs Independent)</a:t>
          </a:r>
          <a:r>
            <a:rPr lang="en-GB" sz="2200" kern="1200"/>
            <a:t>: Associated with stability in rating distributions and operational consistency</a:t>
          </a:r>
          <a:endParaRPr lang="en-US" sz="2200" kern="1200"/>
        </a:p>
      </dsp:txBody>
      <dsp:txXfrm>
        <a:off x="1737184" y="1880712"/>
        <a:ext cx="4794918" cy="1504056"/>
      </dsp:txXfrm>
    </dsp:sp>
    <dsp:sp modelId="{6D6A7039-2C06-47EE-861B-40695E9C52BE}">
      <dsp:nvSpPr>
        <dsp:cNvPr id="0" name=""/>
        <dsp:cNvSpPr/>
      </dsp:nvSpPr>
      <dsp:spPr>
        <a:xfrm>
          <a:off x="0" y="3760783"/>
          <a:ext cx="6532102" cy="1504056"/>
        </a:xfrm>
        <a:prstGeom prst="roundRect">
          <a:avLst>
            <a:gd name="adj" fmla="val 10000"/>
          </a:avLst>
        </a:prstGeom>
        <a:solidFill>
          <a:schemeClr val="bg1">
            <a:lumMod val="95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479DA6B-2101-41E5-BD99-1BA69CD3D0FE}">
      <dsp:nvSpPr>
        <dsp:cNvPr id="0" name=""/>
        <dsp:cNvSpPr/>
      </dsp:nvSpPr>
      <dsp:spPr>
        <a:xfrm>
          <a:off x="454976" y="4099195"/>
          <a:ext cx="827230" cy="827230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096C297B-21C6-451D-BD3E-191003FA086A}">
      <dsp:nvSpPr>
        <dsp:cNvPr id="0" name=""/>
        <dsp:cNvSpPr/>
      </dsp:nvSpPr>
      <dsp:spPr>
        <a:xfrm>
          <a:off x="1737184" y="3760783"/>
          <a:ext cx="4794918" cy="1504056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59179" tIns="159179" rIns="159179" bIns="159179" numCol="1" spcCol="1270" anchor="ctr" anchorCtr="0">
          <a:noAutofit/>
        </a:bodyPr>
        <a:lstStyle/>
        <a:p>
          <a:pPr marL="0" lvl="0" indent="0" algn="l" defTabSz="9779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2200" b="1" kern="1200" dirty="0"/>
            <a:t>Geographic Anchors </a:t>
          </a:r>
          <a:r>
            <a:rPr lang="en-US" sz="2200" b="1" kern="1200" dirty="0"/>
            <a:t>for handling missing values</a:t>
          </a:r>
          <a:r>
            <a:rPr lang="en-GB" sz="2200" b="1" kern="1200" dirty="0"/>
            <a:t>(Country)</a:t>
          </a:r>
          <a:r>
            <a:rPr lang="en-GB" sz="2200" kern="1200" dirty="0"/>
            <a:t>: Enable cross-market generalization and reduce local overfitting</a:t>
          </a:r>
          <a:endParaRPr lang="en-US" sz="2200" kern="1200" dirty="0"/>
        </a:p>
      </dsp:txBody>
      <dsp:txXfrm>
        <a:off x="1737184" y="3760783"/>
        <a:ext cx="4794918" cy="1504056"/>
      </dsp:txXfrm>
    </dsp:sp>
  </dsp:spTree>
</dsp:drawing>
</file>

<file path=ppt/diagrams/drawing6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0F39FC2-DAC9-4E4A-B01F-4D0411855331}">
      <dsp:nvSpPr>
        <dsp:cNvPr id="0" name=""/>
        <dsp:cNvSpPr/>
      </dsp:nvSpPr>
      <dsp:spPr>
        <a:xfrm>
          <a:off x="1130019" y="373804"/>
          <a:ext cx="1285965" cy="12859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45BF3606-FE1B-40AE-9E8C-5CB902E713E0}">
      <dsp:nvSpPr>
        <dsp:cNvPr id="0" name=""/>
        <dsp:cNvSpPr/>
      </dsp:nvSpPr>
      <dsp:spPr>
        <a:xfrm>
          <a:off x="344152" y="2013943"/>
          <a:ext cx="28577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Dataset exhibits </a:t>
          </a:r>
          <a:r>
            <a:rPr lang="en-GB" sz="1700" b="1" kern="1200" dirty="0"/>
            <a:t>survivorship bias</a:t>
          </a:r>
          <a:r>
            <a:rPr lang="en-GB" sz="1700" kern="1200" dirty="0"/>
            <a:t> due to reliance on currently listed restaurants</a:t>
          </a:r>
          <a:endParaRPr lang="en-US" sz="1700" kern="1200" dirty="0"/>
        </a:p>
      </dsp:txBody>
      <dsp:txXfrm>
        <a:off x="344152" y="2013943"/>
        <a:ext cx="2857700" cy="720000"/>
      </dsp:txXfrm>
    </dsp:sp>
    <dsp:sp modelId="{FF2D4E90-FAD9-4F3D-B102-165B4A9FBF58}">
      <dsp:nvSpPr>
        <dsp:cNvPr id="0" name=""/>
        <dsp:cNvSpPr/>
      </dsp:nvSpPr>
      <dsp:spPr>
        <a:xfrm>
          <a:off x="4487817" y="373804"/>
          <a:ext cx="1285965" cy="12859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FCF2A0BA-A79F-44A6-BCA6-1888BAD93B59}">
      <dsp:nvSpPr>
        <dsp:cNvPr id="0" name=""/>
        <dsp:cNvSpPr/>
      </dsp:nvSpPr>
      <dsp:spPr>
        <a:xfrm>
          <a:off x="3701950" y="2013943"/>
          <a:ext cx="28577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External macroeconomic variables are not included in the current model </a:t>
          </a:r>
          <a:endParaRPr lang="en-US" sz="1700" kern="1200" dirty="0"/>
        </a:p>
      </dsp:txBody>
      <dsp:txXfrm>
        <a:off x="3701950" y="2013943"/>
        <a:ext cx="2857700" cy="720000"/>
      </dsp:txXfrm>
    </dsp:sp>
    <dsp:sp modelId="{934A1AB7-33F0-4202-A450-8125BD6F3E2E}">
      <dsp:nvSpPr>
        <dsp:cNvPr id="0" name=""/>
        <dsp:cNvSpPr/>
      </dsp:nvSpPr>
      <dsp:spPr>
        <a:xfrm>
          <a:off x="7845615" y="373804"/>
          <a:ext cx="1285965" cy="1285965"/>
        </a:xfrm>
        <a:prstGeom prst="rect">
          <a:avLst/>
        </a:prstGeom>
        <a:blipFill>
          <a:blip xmlns:r="http://schemas.openxmlformats.org/officeDocument/2006/relationships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a:blipFill>
        <a:ln w="127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88462F2-245D-4D5C-AA7A-9BCA99A48934}">
      <dsp:nvSpPr>
        <dsp:cNvPr id="0" name=""/>
        <dsp:cNvSpPr/>
      </dsp:nvSpPr>
      <dsp:spPr>
        <a:xfrm>
          <a:off x="7059747" y="2013943"/>
          <a:ext cx="2857700" cy="7200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t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GB" sz="1700" kern="1200" dirty="0"/>
            <a:t>Predictions reflect historical behavioural patterns and do not capture real-time market shocks</a:t>
          </a:r>
          <a:endParaRPr lang="en-US" sz="1700" kern="1200" dirty="0"/>
        </a:p>
      </dsp:txBody>
      <dsp:txXfrm>
        <a:off x="7059747" y="2013943"/>
        <a:ext cx="2857700" cy="7200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5/layout/IconCircleLabelList">
  <dgm:title val="Icon Circle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4"/>
          <dgm:constr type="h" for="des" forName="compNode" op="equ"/>
          <dgm:constr type="h" for="des" forName="textRect" op="equ"/>
        </dgm:constrLst>
      </dgm:if>
      <dgm:if name="Name5" axis="ch" ptType="node" func="cnt" op="lte" val="3">
        <dgm:constrLst>
          <dgm:constr type="h" for="ch" forName="compNode" refType="h" fact="0.4"/>
          <dgm:constr type="w" for="ch" forName="compNode" val="10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40"/>
          <dgm:constr type="h" for="des" forName="compNode" op="equ"/>
          <dgm:constr type="h" for="des" forName="textRect" op="equ"/>
        </dgm:constrLst>
      </dgm:if>
      <dgm:if name="Name6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2"/>
          <dgm:constr type="h" for="des" forName="compNode" op="equ"/>
          <dgm:constr type="h" for="des" forName="textRect" op="equ"/>
        </dgm:constrLst>
      </dgm:if>
      <dgm:else name="Name7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BgRect" refType="w" fact="0.61"/>
          <dgm:constr type="h" for="ch" forName="iconBgRect" refType="w" refFor="ch" refForName="iconBgRect"/>
          <dgm:constr type="t" for="ch" forName="iconBgRect"/>
          <dgm:constr type="ctrX" for="ch" forName="iconBgRect" refType="w" fact="0.5"/>
          <dgm:constr type="w" for="ch" forName="iconRect" refType="w" fact="0.35"/>
          <dgm:constr type="h" for="ch" forName="iconRect" refType="w" refFor="ch" refForName="iconRect"/>
          <dgm:constr type="ctrX" for="ch" forName="iconRect" refType="ctrX" refFor="ch" refForName="iconBgRect"/>
          <dgm:constr type="ctrY" for="ch" forName="iconRect" refType="ctrY" refFor="ch" refForName="iconBgRect"/>
          <dgm:constr type="h" for="ch" forName="spaceRect" refType="w" fact="0.19"/>
          <dgm:constr type="w" for="ch" forName="spaceRect" refType="w"/>
          <dgm:constr type="l" for="ch" forName="spaceRect"/>
          <dgm:constr type="t" for="ch" forName="spaceRect" refType="b" refFor="ch" refForName="iconBg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BgRect" styleLbl="bgShp">
          <dgm:alg type="sp"/>
          <dgm:shape xmlns:r="http://schemas.openxmlformats.org/officeDocument/2006/relationships" type="ellipse" r:blip="">
            <dgm:adjLst/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9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  <a:defRPr cap="all"/>
        </a:lvl1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layout5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6.xml><?xml version="1.0" encoding="utf-8"?>
<dgm:layoutDef xmlns:dgm="http://schemas.openxmlformats.org/drawingml/2006/diagram" xmlns:a="http://schemas.openxmlformats.org/drawingml/2006/main" uniqueId="urn:microsoft.com/office/officeart/2018/2/layout/IconLabelList">
  <dgm:title val="Icon Label List"/>
  <dgm:desc val="Use to show non-sequential or grouped chunks of information accompanied by a related visuals. Works best with icons or small pictures with short text ca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sameDir"/>
          <dgm:param type="off" val="ctr"/>
          <dgm:param type="vertAlign" val="mid"/>
          <dgm:param type="horzAlign" val="ctr"/>
        </dgm:alg>
      </dgm:if>
      <dgm:else name="Name2">
        <dgm:alg type="snake">
          <dgm:param type="grDir" val="tR"/>
          <dgm:param type="flowDir" val="row"/>
          <dgm:param type="contDir" val="sameDir"/>
          <dgm:param type="off" val="ctr"/>
          <dgm:param type="vertAlign" val="mid"/>
          <dgm:param type="horzAlign" val="ct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2">
        <dgm:constrLst>
          <dgm:constr type="h" for="ch" forName="compNode" refType="h" fact="0.4"/>
          <dgm:constr type="w" for="ch" forName="compNode" val="120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50"/>
          <dgm:constr type="h" for="des" forName="compNode" op="equ"/>
          <dgm:constr type="h" for="des" forName="textRect" op="equ"/>
        </dgm:constrLst>
      </dgm:if>
      <dgm:if name="Name5" axis="ch" ptType="node" func="cnt" op="lte" val="4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36"/>
          <dgm:constr type="h" for="des" forName="compNode" op="equ"/>
          <dgm:constr type="h" for="des" forName="textRect" op="equ"/>
        </dgm:constrLst>
      </dgm:if>
      <dgm:else name="Name6">
        <dgm:constrLst>
          <dgm:constr type="h" for="ch" forName="compNode" refType="h" fact="0.4"/>
          <dgm:constr type="w" for="ch" forName="compNode" refType="w"/>
          <dgm:constr type="w" for="ch" forName="sibTrans" refType="w" refFor="ch" refForName="compNode" fact="0.175"/>
          <dgm:constr type="sp" refType="w" refFor="ch" refForName="compNode" op="equ" fact="0.25"/>
          <dgm:constr type="primFontSz" for="des" ptType="node" op="equ" val="24"/>
          <dgm:constr type="h" for="des" forName="compNode" op="equ"/>
          <dgm:constr type="h" for="des" forName="textRect" op="equ"/>
        </dgm:constrLst>
      </dgm:else>
    </dgm:choose>
    <dgm:ruleLst>
      <dgm:rule type="w" for="ch" forName="compNode" val="50" fact="NaN" max="NaN"/>
    </dgm:ruleLst>
    <dgm:forEach name="Name7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onstrLst>
          <dgm:constr type="w" for="ch" forName="iconRect" refType="w" fact="0.45"/>
          <dgm:constr type="h" for="ch" forName="iconRect" refType="w" refFor="ch" refForName="iconRect"/>
          <dgm:constr type="ctrX" for="ch" forName="iconRect" refType="w" fact="0.5"/>
          <dgm:constr type="t" for="ch" forName="iconRect"/>
          <dgm:constr type="h" for="ch" forName="spaceRect" refType="h" fact="0.15"/>
          <dgm:constr type="w" for="ch" forName="spaceRect" refType="w"/>
          <dgm:constr type="l" for="ch" forName="spaceRect"/>
          <dgm:constr type="t" for="ch" forName="spaceRect" refType="b" refFor="ch" refForName="iconRect"/>
          <dgm:constr type="h" for="ch" forName="textRect" val="20"/>
          <dgm:constr type="w" for="ch" forName="textRect" refType="w"/>
          <dgm:constr type="l" for="ch" forName="textRect"/>
          <dgm:constr type="t" for="ch" forName="textRect" refType="b" refFor="ch" refForName="spaceRect"/>
        </dgm:constrLst>
        <dgm:ruleLst>
          <dgm:rule type="h" val="INF" fact="NaN" max="NaN"/>
        </dgm:ruleLst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textRect" styleLbl="revTx">
          <dgm:varLst>
            <dgm:chMax val="1"/>
            <dgm:chPref val="1"/>
          </dgm:varLst>
          <dgm:alg type="tx">
            <dgm:param type="txAnchorVert" val="t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/>
            <dgm:constr type="rMarg"/>
            <dgm:constr type="tMarg"/>
            <dgm:constr type="bMarg"/>
          </dgm:constrLst>
          <dgm:ruleLst>
            <dgm:rule type="primFontSz" val="11" fact="NaN" max="NaN"/>
            <dgm:rule type="h" val="INF" fact="NaN" max="NaN"/>
          </dgm:ruleLst>
        </dgm:layoutNode>
      </dgm:layoutNode>
      <dgm:forEach name="Name8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5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6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accent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 algn="ctr"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95194" y="4352544"/>
            <a:ext cx="6801612" cy="1239894"/>
          </a:xfrm>
          <a:noFill/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D07F8-A40B-43C2-8338-96C58D5C68A1}" type="datetimeFigureOut">
              <a:rPr lang="en-IL" smtClean="0"/>
              <a:t>05/12/2026</a:t>
            </a:fld>
            <a:endParaRPr lang="en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FBCCE-1926-44B3-BCCD-6E2677F0EF8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673216966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D07F8-A40B-43C2-8338-96C58D5C68A1}" type="datetimeFigureOut">
              <a:rPr lang="en-IL" smtClean="0"/>
              <a:t>05/12/2026</a:t>
            </a:fld>
            <a:endParaRPr lang="en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FBCCE-1926-44B3-BCCD-6E2677F0EF8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51257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1600200" y="2386744"/>
            <a:ext cx="8991600" cy="1645920"/>
          </a:xfrm>
          <a:solidFill>
            <a:srgbClr val="FFFFFF"/>
          </a:solidFill>
          <a:ln w="38100">
            <a:solidFill>
              <a:srgbClr val="404040"/>
            </a:solidFill>
          </a:ln>
        </p:spPr>
        <p:txBody>
          <a:bodyPr lIns="274320" rIns="274320" anchor="ctr" anchorCtr="1">
            <a:normAutofit/>
          </a:bodyPr>
          <a:lstStyle>
            <a:lvl1pPr>
              <a:defRPr sz="38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695194" y="4352465"/>
            <a:ext cx="6801612" cy="1265082"/>
          </a:xfrm>
        </p:spPr>
        <p:txBody>
          <a:bodyPr anchor="t" anchorCtr="1"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D07F8-A40B-43C2-8338-96C58D5C68A1}" type="datetimeFigureOut">
              <a:rPr lang="en-IL" smtClean="0"/>
              <a:t>05/12/2026</a:t>
            </a:fld>
            <a:endParaRPr lang="en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FBCCE-1926-44B3-BCCD-6E2677F0EF8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8934177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581912" y="2638044"/>
            <a:ext cx="4271771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38315" y="2638044"/>
            <a:ext cx="4270247" cy="3101982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D07F8-A40B-43C2-8338-96C58D5C68A1}" type="datetimeFigureOut">
              <a:rPr lang="en-IL" smtClean="0"/>
              <a:t>05/12/2026</a:t>
            </a:fld>
            <a:endParaRPr lang="en-IL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FBCCE-1926-44B3-BCCD-6E2677F0EF8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77259242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343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583436" y="3143250"/>
            <a:ext cx="4270248" cy="2596776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338316" y="3143250"/>
            <a:ext cx="4253484" cy="2596776"/>
          </a:xfrm>
        </p:spPr>
        <p:txBody>
          <a:bodyPr/>
          <a:lstStyle>
            <a:lvl5pPr>
              <a:defRPr/>
            </a:lvl5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6338316" y="2313433"/>
            <a:ext cx="4270248" cy="704087"/>
          </a:xfrm>
        </p:spPr>
        <p:txBody>
          <a:bodyPr anchor="b" anchorCtr="1">
            <a:normAutofit/>
          </a:bodyPr>
          <a:lstStyle>
            <a:lvl1pPr marL="0" indent="0" algn="ctr">
              <a:buNone/>
              <a:defRPr sz="1900" b="0" cap="all" spc="100" baseline="0">
                <a:solidFill>
                  <a:schemeClr val="accent2">
                    <a:lumMod val="75000"/>
                  </a:schemeClr>
                </a:solidFill>
              </a:defRPr>
            </a:lvl1pPr>
            <a:lvl2pPr marL="457200" indent="0">
              <a:buNone/>
              <a:defRPr sz="19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D07F8-A40B-43C2-8338-96C58D5C68A1}" type="datetimeFigureOut">
              <a:rPr lang="en-IL" smtClean="0"/>
              <a:t>05/12/2026</a:t>
            </a:fld>
            <a:endParaRPr lang="en-IL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FBCCE-1926-44B3-BCCD-6E2677F0EF80}" type="slidenum">
              <a:rPr lang="en-IL" smtClean="0"/>
              <a:t>‹#›</a:t>
            </a:fld>
            <a:endParaRPr lang="en-IL"/>
          </a:p>
        </p:txBody>
      </p:sp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542060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D07F8-A40B-43C2-8338-96C58D5C68A1}" type="datetimeFigureOut">
              <a:rPr lang="en-IL" smtClean="0"/>
              <a:t>05/12/2026</a:t>
            </a:fld>
            <a:endParaRPr lang="en-IL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FBCCE-1926-44B3-BCCD-6E2677F0EF8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185807354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D07F8-A40B-43C2-8338-96C58D5C68A1}" type="datetimeFigureOut">
              <a:rPr lang="en-IL" smtClean="0"/>
              <a:t>05/12/2026</a:t>
            </a:fld>
            <a:endParaRPr lang="en-IL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FBCCE-1926-44B3-BCCD-6E2677F0EF8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1205073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Rectangle 25"/>
          <p:cNvSpPr/>
          <p:nvPr/>
        </p:nvSpPr>
        <p:spPr>
          <a:xfrm>
            <a:off x="0" y="0"/>
            <a:ext cx="6096000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4672" y="2243828"/>
            <a:ext cx="4486656" cy="1141497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rm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736080" y="804672"/>
            <a:ext cx="4815840" cy="5248656"/>
          </a:xfrm>
        </p:spPr>
        <p:txBody>
          <a:bodyPr>
            <a:normAutofit/>
          </a:bodyPr>
          <a:lstStyle>
            <a:lvl1pPr>
              <a:defRPr sz="1900">
                <a:solidFill>
                  <a:schemeClr val="tx1"/>
                </a:solidFill>
              </a:defRPr>
            </a:lvl1pPr>
            <a:lvl2pPr>
              <a:defRPr sz="1600">
                <a:solidFill>
                  <a:schemeClr val="tx1"/>
                </a:solidFill>
              </a:defRPr>
            </a:lvl2pPr>
            <a:lvl3pPr>
              <a:defRPr sz="1600">
                <a:solidFill>
                  <a:schemeClr val="tx1"/>
                </a:solidFill>
              </a:defRPr>
            </a:lvl3pPr>
            <a:lvl4pPr>
              <a:defRPr sz="1600">
                <a:solidFill>
                  <a:schemeClr val="tx1"/>
                </a:solidFill>
              </a:defRPr>
            </a:lvl4pPr>
            <a:lvl5pPr>
              <a:defRPr sz="1600">
                <a:solidFill>
                  <a:schemeClr val="tx1"/>
                </a:solidFill>
              </a:defRPr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6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D07F8-A40B-43C2-8338-96C58D5C68A1}" type="datetimeFigureOut">
              <a:rPr lang="en-IL" smtClean="0"/>
              <a:t>05/12/2026</a:t>
            </a:fld>
            <a:endParaRPr lang="en-IL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L"/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FBCCE-1926-44B3-BCCD-6E2677F0EF8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0874120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/>
          <p:cNvSpPr/>
          <p:nvPr/>
        </p:nvSpPr>
        <p:spPr>
          <a:xfrm>
            <a:off x="0" y="0"/>
            <a:ext cx="6095999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 bwMode="blackWhite">
          <a:xfrm>
            <a:off x="808523" y="2243828"/>
            <a:ext cx="4494998" cy="1134640"/>
          </a:xfrm>
          <a:solidFill>
            <a:srgbClr val="FFFFFF"/>
          </a:solidFill>
          <a:ln>
            <a:solidFill>
              <a:srgbClr val="404040"/>
            </a:solidFill>
          </a:ln>
        </p:spPr>
        <p:txBody>
          <a:bodyPr anchor="ctr" anchorCtr="1">
            <a:noAutofit/>
          </a:bodyPr>
          <a:lstStyle>
            <a:lvl1pPr>
              <a:defRPr sz="2200">
                <a:solidFill>
                  <a:srgbClr val="262626"/>
                </a:solidFill>
              </a:defRPr>
            </a:lvl1pPr>
          </a:lstStyle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9" y="0"/>
            <a:ext cx="6102097" cy="6858000"/>
          </a:xfrm>
          <a:solidFill>
            <a:schemeClr val="bg1">
              <a:lumMod val="75000"/>
            </a:schemeClr>
          </a:solidFill>
        </p:spPr>
        <p:txBody>
          <a:bodyPr anchor="t"/>
          <a:lstStyle>
            <a:lvl1pPr marL="0" indent="0">
              <a:buNone/>
              <a:defRPr sz="3200">
                <a:solidFill>
                  <a:schemeClr val="bg1">
                    <a:lumMod val="85000"/>
                    <a:lumOff val="15000"/>
                  </a:schemeClr>
                </a:solidFill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GB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15568" y="3549918"/>
            <a:ext cx="3794760" cy="2194037"/>
          </a:xfrm>
        </p:spPr>
        <p:txBody>
          <a:bodyPr anchor="t" anchorCtr="1">
            <a:normAutofit/>
          </a:bodyPr>
          <a:lstStyle>
            <a:lvl1pPr marL="0" indent="0" algn="ctr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8" name="Date Placeholder 7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  <a:effectLst>
                  <a:outerShdw blurRad="50800" dist="38100" dir="2700000" algn="tl" rotWithShape="0">
                    <a:prstClr val="black">
                      <a:alpha val="43000"/>
                    </a:prstClr>
                  </a:outerShdw>
                </a:effectLst>
              </a:defRPr>
            </a:lvl1pPr>
          </a:lstStyle>
          <a:p>
            <a:fld id="{794D07F8-A40B-43C2-8338-96C58D5C68A1}" type="datetimeFigureOut">
              <a:rPr lang="en-IL" smtClean="0"/>
              <a:t>05/12/2026</a:t>
            </a:fld>
            <a:endParaRPr lang="en-IL"/>
          </a:p>
        </p:txBody>
      </p:sp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>
          <a:xfrm>
            <a:off x="804672" y="6236208"/>
            <a:ext cx="5124797" cy="320040"/>
          </a:xfrm>
        </p:spPr>
        <p:txBody>
          <a:bodyPr/>
          <a:lstStyle>
            <a:lvl1pPr>
              <a:defRPr>
                <a:solidFill>
                  <a:srgbClr val="FFFFFF">
                    <a:alpha val="70000"/>
                  </a:srgbClr>
                </a:solidFill>
              </a:defRPr>
            </a:lvl1pPr>
          </a:lstStyle>
          <a:p>
            <a:endParaRPr lang="en-IL"/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FBCCE-1926-44B3-BCCD-6E2677F0EF8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42125995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D07F8-A40B-43C2-8338-96C58D5C68A1}" type="datetimeFigureOut">
              <a:rPr lang="en-IL" smtClean="0"/>
              <a:t>05/12/2026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FBCCE-1926-44B3-BCCD-6E2677F0EF8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03017041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53112" y="937260"/>
            <a:ext cx="1298608" cy="4983480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231136" y="937260"/>
            <a:ext cx="6198489" cy="4983480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94D07F8-A40B-43C2-8338-96C58D5C68A1}" type="datetimeFigureOut">
              <a:rPr lang="en-IL" smtClean="0"/>
              <a:t>05/12/2026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DFFBCCE-1926-44B3-BCCD-6E2677F0EF8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33404111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black">
          <a:xfrm>
            <a:off x="2231136" y="964692"/>
            <a:ext cx="7729728" cy="1188720"/>
          </a:xfrm>
          <a:prstGeom prst="rect">
            <a:avLst/>
          </a:prstGeom>
          <a:solidFill>
            <a:srgbClr val="FFFFFF"/>
          </a:solidFill>
          <a:ln w="31750" cap="sq">
            <a:solidFill>
              <a:srgbClr val="404040"/>
            </a:solidFill>
            <a:miter lim="800000"/>
          </a:ln>
        </p:spPr>
        <p:txBody>
          <a:bodyPr vert="horz" lIns="182880" tIns="182880" rIns="182880" bIns="18288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31136" y="2638044"/>
            <a:ext cx="7729728" cy="31019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821429" y="6238816"/>
            <a:ext cx="2753746" cy="32396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fld id="{794D07F8-A40B-43C2-8338-96C58D5C68A1}" type="datetimeFigureOut">
              <a:rPr lang="en-IL" smtClean="0"/>
              <a:t>05/12/2026</a:t>
            </a:fld>
            <a:endParaRPr lang="en-IL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600200" y="6236208"/>
            <a:ext cx="5901189" cy="320040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50">
                <a:solidFill>
                  <a:schemeClr val="tx1">
                    <a:alpha val="70000"/>
                  </a:schemeClr>
                </a:solidFill>
              </a:defRPr>
            </a:lvl1pPr>
          </a:lstStyle>
          <a:p>
            <a:endParaRPr lang="en-IL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758922" y="6217920"/>
            <a:ext cx="365760" cy="365760"/>
          </a:xfrm>
          <a:prstGeom prst="ellipse">
            <a:avLst/>
          </a:prstGeom>
          <a:solidFill>
            <a:srgbClr val="1D1D1D">
              <a:alpha val="70000"/>
            </a:srgbClr>
          </a:solidFill>
        </p:spPr>
        <p:txBody>
          <a:bodyPr vert="horz" lIns="18288" tIns="45720" rIns="18288" bIns="45720" rtlCol="0" anchor="ctr">
            <a:noAutofit/>
          </a:bodyPr>
          <a:lstStyle>
            <a:lvl1pPr algn="ctr">
              <a:defRPr sz="1100" spc="0" baseline="0">
                <a:solidFill>
                  <a:srgbClr val="FFFFFF"/>
                </a:solidFill>
              </a:defRPr>
            </a:lvl1pPr>
          </a:lstStyle>
          <a:p>
            <a:fld id="{2DFFBCCE-1926-44B3-BCCD-6E2677F0EF80}" type="slidenum">
              <a:rPr lang="en-IL" smtClean="0"/>
              <a:t>‹#›</a:t>
            </a:fld>
            <a:endParaRPr lang="en-IL"/>
          </a:p>
        </p:txBody>
      </p:sp>
    </p:spTree>
    <p:extLst>
      <p:ext uri="{BB962C8B-B14F-4D97-AF65-F5344CB8AC3E}">
        <p14:creationId xmlns:p14="http://schemas.microsoft.com/office/powerpoint/2010/main" val="26096110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2800" kern="1200" cap="all" spc="200" baseline="0">
          <a:solidFill>
            <a:srgbClr val="262626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8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1pPr>
      <a:lvl2pPr marL="4572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2pPr>
      <a:lvl3pPr marL="6858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3pPr>
      <a:lvl4pPr marL="9144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4pPr>
      <a:lvl5pPr marL="114300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>
              <a:lumMod val="85000"/>
              <a:lumOff val="15000"/>
            </a:schemeClr>
          </a:solidFill>
          <a:latin typeface="+mn-lt"/>
          <a:ea typeface="+mn-ea"/>
          <a:cs typeface="+mn-cs"/>
        </a:defRPr>
      </a:lvl5pPr>
      <a:lvl6pPr marL="131286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484313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1657350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1882775" indent="-228600" algn="l" defTabSz="914400" rtl="0" eaLnBrk="1" latinLnBrk="0" hangingPunct="1">
        <a:lnSpc>
          <a:spcPct val="100000"/>
        </a:lnSpc>
        <a:spcBef>
          <a:spcPts val="1000"/>
        </a:spcBef>
        <a:buClr>
          <a:schemeClr val="accent2"/>
        </a:buClr>
        <a:buFont typeface="Arial" panose="020B0604020202020204" pitchFamily="34" charset="0"/>
        <a:buChar char="•"/>
        <a:defRPr sz="16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5.xml"/><Relationship Id="rId2" Type="http://schemas.openxmlformats.org/officeDocument/2006/relationships/diagramData" Target="../diagrams/data5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5.xml"/><Relationship Id="rId5" Type="http://schemas.openxmlformats.org/officeDocument/2006/relationships/diagramColors" Target="../diagrams/colors5.xml"/><Relationship Id="rId4" Type="http://schemas.openxmlformats.org/officeDocument/2006/relationships/diagramQuickStyle" Target="../diagrams/quickStyle5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6.xml"/><Relationship Id="rId2" Type="http://schemas.openxmlformats.org/officeDocument/2006/relationships/diagramData" Target="../diagrams/data6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6.xml"/><Relationship Id="rId5" Type="http://schemas.openxmlformats.org/officeDocument/2006/relationships/diagramColors" Target="../diagrams/colors6.xml"/><Relationship Id="rId4" Type="http://schemas.openxmlformats.org/officeDocument/2006/relationships/diagramQuickStyle" Target="../diagrams/quickStyl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C4F3C7-88C4-B2A7-E939-CAF63FE7C8C8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Precision-Based Investment Selection Framework</a:t>
            </a:r>
            <a:endParaRPr lang="en-IL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53277A1-1391-2559-1EFB-1CBD2C9713F6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GB" dirty="0"/>
              <a:t>Predictive modelling for high-confidence restaurant investment decisions in European markets</a:t>
            </a:r>
            <a:endParaRPr lang="en-IL" dirty="0"/>
          </a:p>
        </p:txBody>
      </p:sp>
    </p:spTree>
    <p:extLst>
      <p:ext uri="{BB962C8B-B14F-4D97-AF65-F5344CB8AC3E}">
        <p14:creationId xmlns:p14="http://schemas.microsoft.com/office/powerpoint/2010/main" val="188235869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970AAA2-0CB8-B47A-5538-415623C387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</p:spPr>
        <p:txBody>
          <a:bodyPr>
            <a:normAutofit/>
          </a:bodyPr>
          <a:lstStyle/>
          <a:p>
            <a:r>
              <a:rPr lang="en-US"/>
              <a:t>Our Clients</a:t>
            </a:r>
            <a:endParaRPr lang="en-IL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773462EA-AF06-7459-74C1-87E129C537F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463687272"/>
              </p:ext>
            </p:extLst>
          </p:nvPr>
        </p:nvGraphicFramePr>
        <p:xfrm>
          <a:off x="4427087" y="2638425"/>
          <a:ext cx="7428029" cy="31077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DA6DECBA-B44B-D361-6239-2E1405E70FB8}"/>
              </a:ext>
            </a:extLst>
          </p:cNvPr>
          <p:cNvSpPr txBox="1"/>
          <p:nvPr/>
        </p:nvSpPr>
        <p:spPr>
          <a:xfrm>
            <a:off x="669437" y="2907931"/>
            <a:ext cx="3544022" cy="2308324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en-GB" sz="2400" b="1" dirty="0"/>
              <a:t>Risk‑Averse Investors</a:t>
            </a:r>
          </a:p>
          <a:p>
            <a:r>
              <a:rPr lang="en-GB" sz="2400" dirty="0"/>
              <a:t>These are people who prefer:</a:t>
            </a:r>
          </a:p>
          <a:p>
            <a:r>
              <a:rPr lang="en-GB" sz="2400" dirty="0"/>
              <a:t>- Fewer deals</a:t>
            </a:r>
          </a:p>
          <a:p>
            <a:r>
              <a:rPr lang="en-GB" sz="2400" dirty="0"/>
              <a:t>- Higher confidence</a:t>
            </a:r>
          </a:p>
          <a:p>
            <a:r>
              <a:rPr lang="en-GB" sz="2400" dirty="0"/>
              <a:t>- Lower downside risk</a:t>
            </a:r>
          </a:p>
        </p:txBody>
      </p:sp>
    </p:spTree>
    <p:extLst>
      <p:ext uri="{BB962C8B-B14F-4D97-AF65-F5344CB8AC3E}">
        <p14:creationId xmlns:p14="http://schemas.microsoft.com/office/powerpoint/2010/main" val="338171159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1" name="Rectangle 10">
            <a:extLst>
              <a:ext uri="{FF2B5EF4-FFF2-40B4-BE49-F238E27FC236}">
                <a16:creationId xmlns:a16="http://schemas.microsoft.com/office/drawing/2014/main" id="{93F0ADB5-A0B4-4B01-A8C4-FDC34CE22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AA6D0FDE-0241-4C21-A720-A694753582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79D74FC-B172-93C8-9F32-845033615A6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2681103"/>
            <a:ext cx="3363974" cy="1495794"/>
          </a:xfrm>
          <a:noFill/>
          <a:ln>
            <a:solidFill>
              <a:schemeClr val="bg1"/>
            </a:solidFill>
          </a:ln>
        </p:spPr>
        <p:txBody>
          <a:bodyPr wrap="square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Base line</a:t>
            </a:r>
            <a:endParaRPr lang="en-IL">
              <a:solidFill>
                <a:schemeClr val="bg1"/>
              </a:solidFill>
            </a:endParaRPr>
          </a:p>
        </p:txBody>
      </p:sp>
      <p:graphicFrame>
        <p:nvGraphicFramePr>
          <p:cNvPr id="6" name="Content Placeholder 5">
            <a:extLst>
              <a:ext uri="{FF2B5EF4-FFF2-40B4-BE49-F238E27FC236}">
                <a16:creationId xmlns:a16="http://schemas.microsoft.com/office/drawing/2014/main" id="{5E0854EA-84FB-A125-D634-840FA7888AAB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373954445"/>
              </p:ext>
            </p:extLst>
          </p:nvPr>
        </p:nvGraphicFramePr>
        <p:xfrm>
          <a:off x="5619750" y="965200"/>
          <a:ext cx="5607050" cy="492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תיבת טקסט 2">
            <a:extLst>
              <a:ext uri="{FF2B5EF4-FFF2-40B4-BE49-F238E27FC236}">
                <a16:creationId xmlns:a16="http://schemas.microsoft.com/office/drawing/2014/main" id="{A806CD0C-FE2B-10C6-52F8-F64493CF2E50}"/>
              </a:ext>
            </a:extLst>
          </p:cNvPr>
          <p:cNvSpPr txBox="1"/>
          <p:nvPr/>
        </p:nvSpPr>
        <p:spPr>
          <a:xfrm>
            <a:off x="6194322" y="6027174"/>
            <a:ext cx="4345859" cy="369332"/>
          </a:xfrm>
          <a:prstGeom prst="rect">
            <a:avLst/>
          </a:prstGeom>
          <a:noFill/>
        </p:spPr>
        <p:txBody>
          <a:bodyPr wrap="square" rtlCol="1">
            <a:spAutoFit/>
          </a:bodyPr>
          <a:lstStyle/>
          <a:p>
            <a:r>
              <a:rPr lang="en-US" dirty="0"/>
              <a:t>Great =  TripAdvisor rating greater than 4.0</a:t>
            </a:r>
            <a:endParaRPr lang="he-IL" dirty="0"/>
          </a:p>
        </p:txBody>
      </p:sp>
    </p:spTree>
    <p:extLst>
      <p:ext uri="{BB962C8B-B14F-4D97-AF65-F5344CB8AC3E}">
        <p14:creationId xmlns:p14="http://schemas.microsoft.com/office/powerpoint/2010/main" val="5972727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DC821A-40FA-E272-DCAC-F9A36A81DD7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</p:spPr>
        <p:txBody>
          <a:bodyPr>
            <a:normAutofit/>
          </a:bodyPr>
          <a:lstStyle/>
          <a:p>
            <a:r>
              <a:rPr lang="en-US" dirty="0"/>
              <a:t>Strategic Mandate</a:t>
            </a:r>
            <a:endParaRPr lang="en-IL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FBAE75F4-A237-6C0F-944A-DFEAE6034B4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36682302"/>
              </p:ext>
            </p:extLst>
          </p:nvPr>
        </p:nvGraphicFramePr>
        <p:xfrm>
          <a:off x="965200" y="2638425"/>
          <a:ext cx="10261600" cy="31077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306724054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93F0ADB5-A0B4-4B01-A8C4-FDC34CE22B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AA6D0FDE-0241-4C21-A720-A6947535823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E0FC5F0-D823-0204-917B-60A9624DF1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2681103"/>
            <a:ext cx="3363974" cy="1495794"/>
          </a:xfrm>
          <a:noFill/>
          <a:ln>
            <a:solidFill>
              <a:schemeClr val="bg1"/>
            </a:solidFill>
          </a:ln>
        </p:spPr>
        <p:txBody>
          <a:bodyPr wrap="square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Decision Pipeline</a:t>
            </a:r>
            <a:endParaRPr lang="en-IL">
              <a:solidFill>
                <a:schemeClr val="bg1"/>
              </a:solidFill>
            </a:endParaRPr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2AC00CD3-000C-92CA-F08F-FEF30FED4BA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940032914"/>
              </p:ext>
            </p:extLst>
          </p:nvPr>
        </p:nvGraphicFramePr>
        <p:xfrm>
          <a:off x="5619750" y="965200"/>
          <a:ext cx="5607050" cy="49276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87275725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7C2083-6D44-5EE5-C720-82538CB84B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</p:spPr>
        <p:txBody>
          <a:bodyPr>
            <a:normAutofit/>
          </a:bodyPr>
          <a:lstStyle/>
          <a:p>
            <a:r>
              <a:rPr lang="en-US" dirty="0"/>
              <a:t>Data Integrity &amp; Stability</a:t>
            </a:r>
            <a:endParaRPr lang="en-IL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08C18FB-E528-678C-D255-1AC1158EEF8D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4161990570"/>
              </p:ext>
            </p:extLst>
          </p:nvPr>
        </p:nvGraphicFramePr>
        <p:xfrm>
          <a:off x="965200" y="2638425"/>
          <a:ext cx="10261600" cy="31077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8665681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AF33C27-9C85-4B30-9AD7-879D48AFE4F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D5089DD-882D-4413-B8BF-4798BFD84A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537704" y="0"/>
            <a:ext cx="4654296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1BA98E0-3CF8-ADDD-FF27-DF8B1453D2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81171" y="2681103"/>
            <a:ext cx="3363974" cy="1495794"/>
          </a:xfrm>
          <a:noFill/>
          <a:ln>
            <a:solidFill>
              <a:srgbClr val="FFFFFF"/>
            </a:solidFill>
          </a:ln>
        </p:spPr>
        <p:txBody>
          <a:bodyPr wrap="square">
            <a:normAutofit/>
          </a:bodyPr>
          <a:lstStyle/>
          <a:p>
            <a:r>
              <a:rPr lang="en-US" sz="2600">
                <a:solidFill>
                  <a:srgbClr val="FFFFFF"/>
                </a:solidFill>
              </a:rPr>
              <a:t>Primary Business Signals</a:t>
            </a:r>
            <a:endParaRPr lang="en-IL" sz="2600">
              <a:solidFill>
                <a:srgbClr val="FFFFFF"/>
              </a:solidFill>
            </a:endParaRPr>
          </a:p>
        </p:txBody>
      </p:sp>
      <p:graphicFrame>
        <p:nvGraphicFramePr>
          <p:cNvPr id="7" name="Content Placeholder 2">
            <a:extLst>
              <a:ext uri="{FF2B5EF4-FFF2-40B4-BE49-F238E27FC236}">
                <a16:creationId xmlns:a16="http://schemas.microsoft.com/office/drawing/2014/main" id="{CE224EF6-F32C-B09E-A67C-90FCF07D6AD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855570729"/>
              </p:ext>
            </p:extLst>
          </p:nvPr>
        </p:nvGraphicFramePr>
        <p:xfrm>
          <a:off x="646855" y="796259"/>
          <a:ext cx="6532103" cy="5265482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03269289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0">
            <a:extLst>
              <a:ext uri="{FF2B5EF4-FFF2-40B4-BE49-F238E27FC236}">
                <a16:creationId xmlns:a16="http://schemas.microsoft.com/office/drawing/2014/main" id="{1660E788-AFA9-4A1B-9991-6AA74632A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Rectangle 12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כותרת 1">
            <a:extLst>
              <a:ext uri="{FF2B5EF4-FFF2-40B4-BE49-F238E27FC236}">
                <a16:creationId xmlns:a16="http://schemas.microsoft.com/office/drawing/2014/main" id="{92139A1B-5BC4-2732-2EE3-ED620F27AD8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3467"/>
            <a:ext cx="3363974" cy="1728044"/>
          </a:xfrm>
          <a:noFill/>
          <a:ln>
            <a:solidFill>
              <a:schemeClr val="bg1"/>
            </a:solidFill>
          </a:ln>
        </p:spPr>
        <p:txBody>
          <a:bodyPr vert="horz" wrap="square" lIns="182880" tIns="182880" rIns="182880" bIns="182880" rtlCol="0" anchor="ctr">
            <a:normAutofit/>
          </a:bodyPr>
          <a:lstStyle/>
          <a:p>
            <a:r>
              <a:rPr lang="en-US" b="1" dirty="0">
                <a:solidFill>
                  <a:schemeClr val="bg1"/>
                </a:solidFill>
              </a:rPr>
              <a:t>Model Selection Table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3F9DC548-3F1E-24FF-4C64-F6F123B86502}"/>
              </a:ext>
            </a:extLst>
          </p:cNvPr>
          <p:cNvSpPr txBox="1"/>
          <p:nvPr/>
        </p:nvSpPr>
        <p:spPr>
          <a:xfrm>
            <a:off x="240344" y="3014978"/>
            <a:ext cx="4516644" cy="2687731"/>
          </a:xfrm>
          <a:prstGeom prst="rect">
            <a:avLst/>
          </a:prstGeom>
        </p:spPr>
        <p:txBody>
          <a:bodyPr vert="horz" lIns="91440" tIns="45720" rIns="91440" bIns="45720" rtlCol="0">
            <a:normAutofit lnSpcReduction="10000"/>
          </a:bodyPr>
          <a:lstStyle/>
          <a:p>
            <a:pPr defTabSz="9144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</a:pPr>
            <a:r>
              <a:rPr lang="en-US" sz="2800" dirty="0">
                <a:solidFill>
                  <a:schemeClr val="bg1"/>
                </a:solidFill>
                <a:effectLst/>
              </a:rPr>
              <a:t>Multiple tree-based models were benchmarked to evaluate the trade-off between predictive power and precision stability</a:t>
            </a:r>
          </a:p>
          <a:p>
            <a:pPr defTabSz="914400">
              <a:spcBef>
                <a:spcPts val="1000"/>
              </a:spcBef>
              <a:spcAft>
                <a:spcPts val="800"/>
              </a:spcAft>
              <a:buClr>
                <a:schemeClr val="accent2"/>
              </a:buClr>
            </a:pPr>
            <a:r>
              <a:rPr lang="en-US" dirty="0">
                <a:solidFill>
                  <a:schemeClr val="bg1"/>
                </a:solidFill>
                <a:effectLst/>
              </a:rPr>
              <a:t> </a:t>
            </a:r>
          </a:p>
        </p:txBody>
      </p:sp>
      <p:graphicFrame>
        <p:nvGraphicFramePr>
          <p:cNvPr id="4" name="מציין מיקום תוכן 3">
            <a:extLst>
              <a:ext uri="{FF2B5EF4-FFF2-40B4-BE49-F238E27FC236}">
                <a16:creationId xmlns:a16="http://schemas.microsoft.com/office/drawing/2014/main" id="{6909ACA5-E2E9-7D7E-0181-695D98F88413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837329428"/>
              </p:ext>
            </p:extLst>
          </p:nvPr>
        </p:nvGraphicFramePr>
        <p:xfrm>
          <a:off x="4894640" y="1415845"/>
          <a:ext cx="6838882" cy="3456236"/>
        </p:xfrm>
        <a:graphic>
          <a:graphicData uri="http://schemas.openxmlformats.org/drawingml/2006/table">
            <a:tbl>
              <a:tblPr firstRow="1" firstCol="1" bandRow="1"/>
              <a:tblGrid>
                <a:gridCol w="1355597">
                  <a:extLst>
                    <a:ext uri="{9D8B030D-6E8A-4147-A177-3AD203B41FA5}">
                      <a16:colId xmlns:a16="http://schemas.microsoft.com/office/drawing/2014/main" val="161192987"/>
                    </a:ext>
                  </a:extLst>
                </a:gridCol>
                <a:gridCol w="1096657">
                  <a:extLst>
                    <a:ext uri="{9D8B030D-6E8A-4147-A177-3AD203B41FA5}">
                      <a16:colId xmlns:a16="http://schemas.microsoft.com/office/drawing/2014/main" val="2732834319"/>
                    </a:ext>
                  </a:extLst>
                </a:gridCol>
                <a:gridCol w="1096657">
                  <a:extLst>
                    <a:ext uri="{9D8B030D-6E8A-4147-A177-3AD203B41FA5}">
                      <a16:colId xmlns:a16="http://schemas.microsoft.com/office/drawing/2014/main" val="238812308"/>
                    </a:ext>
                  </a:extLst>
                </a:gridCol>
                <a:gridCol w="1096657">
                  <a:extLst>
                    <a:ext uri="{9D8B030D-6E8A-4147-A177-3AD203B41FA5}">
                      <a16:colId xmlns:a16="http://schemas.microsoft.com/office/drawing/2014/main" val="42154817"/>
                    </a:ext>
                  </a:extLst>
                </a:gridCol>
                <a:gridCol w="1096657">
                  <a:extLst>
                    <a:ext uri="{9D8B030D-6E8A-4147-A177-3AD203B41FA5}">
                      <a16:colId xmlns:a16="http://schemas.microsoft.com/office/drawing/2014/main" val="806644809"/>
                    </a:ext>
                  </a:extLst>
                </a:gridCol>
                <a:gridCol w="1096657">
                  <a:extLst>
                    <a:ext uri="{9D8B030D-6E8A-4147-A177-3AD203B41FA5}">
                      <a16:colId xmlns:a16="http://schemas.microsoft.com/office/drawing/2014/main" val="36939324"/>
                    </a:ext>
                  </a:extLst>
                </a:gridCol>
              </a:tblGrid>
              <a:tr h="378045">
                <a:tc>
                  <a:txBody>
                    <a:bodyPr/>
                    <a:lstStyle/>
                    <a:p>
                      <a:pPr algn="l" rtl="1" fontAlgn="b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Model</a:t>
                      </a:r>
                      <a:endParaRPr lang="he-IL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630" marR="40630" marT="27087" marB="27087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1" fontAlgn="b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Accuracy</a:t>
                      </a:r>
                      <a:endParaRPr lang="he-IL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630" marR="40630" marT="27087" marB="27087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1" fontAlgn="b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Precision</a:t>
                      </a:r>
                      <a:endParaRPr lang="he-IL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630" marR="40630" marT="27087" marB="27087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1" fontAlgn="b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Recall</a:t>
                      </a:r>
                      <a:endParaRPr lang="he-IL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630" marR="40630" marT="27087" marB="27087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1" fontAlgn="b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f1-score</a:t>
                      </a:r>
                      <a:endParaRPr lang="he-IL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630" marR="40630" marT="27087" marB="27087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1" fontAlgn="b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AUC</a:t>
                      </a:r>
                      <a:endParaRPr lang="he-IL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630" marR="40630" marT="27087" marB="27087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57437189"/>
                  </a:ext>
                </a:extLst>
              </a:tr>
              <a:tr h="972027">
                <a:tc>
                  <a:txBody>
                    <a:bodyPr/>
                    <a:lstStyle/>
                    <a:p>
                      <a:pPr algn="l" rtl="1" fontAlgn="b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Decision Tree (Baseline)</a:t>
                      </a:r>
                      <a:endParaRPr lang="he-IL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630" marR="40630" marT="27087" marB="27087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1" fontAlgn="b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0.673502</a:t>
                      </a:r>
                      <a:endParaRPr lang="he-IL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630" marR="40630" marT="27087" marB="27087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1" fontAlgn="b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0.656334</a:t>
                      </a:r>
                      <a:endParaRPr lang="he-IL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630" marR="40630" marT="27087" marB="27087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1" fontAlgn="b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0.366872</a:t>
                      </a:r>
                      <a:endParaRPr lang="he-IL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630" marR="40630" marT="27087" marB="27087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1" fontAlgn="b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0.470659</a:t>
                      </a:r>
                      <a:endParaRPr lang="he-IL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630" marR="40630" marT="27087" marB="27087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1" fontAlgn="b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0.620556</a:t>
                      </a:r>
                      <a:endParaRPr lang="he-IL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630" marR="40630" marT="27087" marB="27087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3775561380"/>
                  </a:ext>
                </a:extLst>
              </a:tr>
              <a:tr h="675037">
                <a:tc>
                  <a:txBody>
                    <a:bodyPr/>
                    <a:lstStyle/>
                    <a:p>
                      <a:pPr algn="l" rtl="1" fontAlgn="b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Random Forest</a:t>
                      </a:r>
                      <a:endParaRPr lang="he-IL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630" marR="40630" marT="27087" marB="27087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1" fontAlgn="b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0" u="none" strike="noStrike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0.69402</a:t>
                      </a:r>
                      <a:endParaRPr lang="he-IL" sz="2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630" marR="40630" marT="27087" marB="27087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1" fontAlgn="b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0" u="none" strike="noStrike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0.669782</a:t>
                      </a:r>
                      <a:endParaRPr lang="he-IL" sz="2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630" marR="40630" marT="27087" marB="27087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1" fontAlgn="b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0" u="none" strike="noStrike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0.447026</a:t>
                      </a:r>
                      <a:endParaRPr lang="he-IL" sz="2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630" marR="40630" marT="27087" marB="27087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1" fontAlgn="b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0" u="none" strike="noStrike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0.536189</a:t>
                      </a:r>
                      <a:endParaRPr lang="he-IL" sz="2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630" marR="40630" marT="27087" marB="27087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1" fontAlgn="b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0.651371</a:t>
                      </a:r>
                      <a:endParaRPr lang="he-IL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630" marR="40630" marT="27087" marB="27087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368610077"/>
                  </a:ext>
                </a:extLst>
              </a:tr>
              <a:tr h="675037">
                <a:tc>
                  <a:txBody>
                    <a:bodyPr/>
                    <a:lstStyle/>
                    <a:p>
                      <a:pPr algn="l" rtl="1" fontAlgn="b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Gradient Boosting</a:t>
                      </a:r>
                      <a:endParaRPr lang="he-IL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630" marR="40630" marT="27087" marB="27087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1" fontAlgn="b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0" u="none" strike="noStrike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0.694485</a:t>
                      </a:r>
                      <a:endParaRPr lang="he-IL" sz="2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630" marR="40630" marT="27087" marB="27087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1" fontAlgn="b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0.656147</a:t>
                      </a:r>
                      <a:endParaRPr lang="he-IL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630" marR="40630" marT="27087" marB="27087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1" fontAlgn="b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0.478636</a:t>
                      </a:r>
                      <a:endParaRPr lang="he-IL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630" marR="40630" marT="27087" marB="27087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1" fontAlgn="b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0.553507</a:t>
                      </a:r>
                      <a:endParaRPr lang="he-IL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630" marR="40630" marT="27087" marB="27087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1" fontAlgn="b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0.657214</a:t>
                      </a:r>
                      <a:endParaRPr lang="he-IL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630" marR="40630" marT="27087" marB="27087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918815870"/>
                  </a:ext>
                </a:extLst>
              </a:tr>
              <a:tr h="378045">
                <a:tc>
                  <a:txBody>
                    <a:bodyPr/>
                    <a:lstStyle/>
                    <a:p>
                      <a:pPr algn="l" rtl="1" fontAlgn="b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XGBoost</a:t>
                      </a:r>
                      <a:endParaRPr lang="he-IL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630" marR="40630" marT="27087" marB="27087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1" fontAlgn="b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0.694282</a:t>
                      </a:r>
                      <a:endParaRPr lang="he-IL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630" marR="40630" marT="27087" marB="27087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1" fontAlgn="b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0.655622</a:t>
                      </a:r>
                      <a:endParaRPr lang="he-IL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630" marR="40630" marT="27087" marB="27087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1" fontAlgn="b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0.478786</a:t>
                      </a:r>
                      <a:endParaRPr lang="he-IL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630" marR="40630" marT="27087" marB="27087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1" fontAlgn="b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0.553421</a:t>
                      </a:r>
                      <a:endParaRPr lang="he-IL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630" marR="40630" marT="27087" marB="27087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1" fontAlgn="b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0.657072</a:t>
                      </a:r>
                      <a:endParaRPr lang="he-IL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630" marR="40630" marT="27087" marB="27087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707042129"/>
                  </a:ext>
                </a:extLst>
              </a:tr>
              <a:tr h="378045">
                <a:tc>
                  <a:txBody>
                    <a:bodyPr/>
                    <a:lstStyle/>
                    <a:p>
                      <a:pPr algn="l" rtl="1" fontAlgn="b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AdaBoost</a:t>
                      </a:r>
                      <a:endParaRPr lang="he-IL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630" marR="40630" marT="27087" marB="27087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1" fontAlgn="b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0.659517</a:t>
                      </a:r>
                      <a:endParaRPr lang="he-IL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630" marR="40630" marT="27087" marB="27087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1" fontAlgn="b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0.66047</a:t>
                      </a:r>
                      <a:endParaRPr lang="he-IL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630" marR="40630" marT="27087" marB="27087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1" fontAlgn="b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0.286928</a:t>
                      </a:r>
                      <a:endParaRPr lang="he-IL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630" marR="40630" marT="27087" marB="27087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1" fontAlgn="b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0" u="none" strike="noStrike" kern="10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0.400059</a:t>
                      </a:r>
                      <a:endParaRPr lang="he-IL" sz="2600" b="0" i="0" u="none" strike="noStrike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630" marR="40630" marT="27087" marB="27087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 rtl="1" fontAlgn="b">
                        <a:lnSpc>
                          <a:spcPct val="107000"/>
                        </a:lnSpc>
                        <a:spcAft>
                          <a:spcPts val="800"/>
                        </a:spcAft>
                        <a:buNone/>
                      </a:pPr>
                      <a:r>
                        <a:rPr lang="en-US" sz="1600" b="0" i="0" u="none" strike="noStrike" kern="100" dirty="0">
                          <a:effectLst/>
                          <a:latin typeface="Aptos" panose="020B0004020202020204" pitchFamily="34" charset="0"/>
                          <a:ea typeface="Aptos" panose="020B0004020202020204" pitchFamily="34" charset="0"/>
                          <a:cs typeface="Arial" panose="020B0604020202020204" pitchFamily="34" charset="0"/>
                        </a:rPr>
                        <a:t>0.595182</a:t>
                      </a:r>
                      <a:endParaRPr lang="he-IL" sz="26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40630" marR="40630" marT="27087" marB="27087" anchor="b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49186419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63605074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1660E788-AFA9-4A1B-9991-6AA74632A1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1999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867D4867-5BA7-4462-B2F6-A23F4A622AA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4654296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E9BC195-1BEA-4B96-B088-C5C9C0B0F6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3467" y="643467"/>
            <a:ext cx="3363974" cy="1728044"/>
          </a:xfrm>
          <a:noFill/>
          <a:ln>
            <a:solidFill>
              <a:schemeClr val="bg1"/>
            </a:solidFill>
          </a:ln>
        </p:spPr>
        <p:txBody>
          <a:bodyPr wrap="square">
            <a:normAutofit/>
          </a:bodyPr>
          <a:lstStyle/>
          <a:p>
            <a:r>
              <a:rPr lang="en-US">
                <a:solidFill>
                  <a:schemeClr val="bg1"/>
                </a:solidFill>
              </a:rPr>
              <a:t>Performance Summary</a:t>
            </a:r>
            <a:endParaRPr lang="en-IL">
              <a:solidFill>
                <a:schemeClr val="bg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E8FA5C-B544-23EF-1834-46EE8A5BDE5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43468" y="2638044"/>
            <a:ext cx="3363974" cy="3415622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chemeClr val="bg1"/>
                </a:solidFill>
              </a:rPr>
              <a:t>We trade coverage for confidence</a:t>
            </a:r>
          </a:p>
          <a:p>
            <a:r>
              <a:rPr lang="en-US" dirty="0">
                <a:solidFill>
                  <a:schemeClr val="bg1"/>
                </a:solidFill>
              </a:rPr>
              <a:t> The system is intentionally optimized for </a:t>
            </a:r>
            <a:r>
              <a:rPr lang="en-US" b="1" dirty="0">
                <a:solidFill>
                  <a:schemeClr val="bg1"/>
                </a:solidFill>
              </a:rPr>
              <a:t>investment quality over market coverage</a:t>
            </a:r>
            <a:endParaRPr lang="en-US" dirty="0">
              <a:solidFill>
                <a:schemeClr val="bg1"/>
              </a:solidFill>
            </a:endParaRPr>
          </a:p>
          <a:p>
            <a:r>
              <a:rPr lang="en-US" dirty="0">
                <a:solidFill>
                  <a:schemeClr val="bg1"/>
                </a:solidFill>
              </a:rPr>
              <a:t>High precision ensures strong confidence in selected investment candidates</a:t>
            </a:r>
            <a:endParaRPr lang="en-IL" dirty="0">
              <a:solidFill>
                <a:schemeClr val="bg1"/>
              </a:solidFill>
            </a:endParaRPr>
          </a:p>
        </p:txBody>
      </p:sp>
      <p:graphicFrame>
        <p:nvGraphicFramePr>
          <p:cNvPr id="4" name="Table 3">
            <a:extLst>
              <a:ext uri="{FF2B5EF4-FFF2-40B4-BE49-F238E27FC236}">
                <a16:creationId xmlns:a16="http://schemas.microsoft.com/office/drawing/2014/main" id="{107969E9-E70A-C242-70B8-7AF4295A045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95354749"/>
              </p:ext>
            </p:extLst>
          </p:nvPr>
        </p:nvGraphicFramePr>
        <p:xfrm>
          <a:off x="5021639" y="77165"/>
          <a:ext cx="7032709" cy="3673688"/>
        </p:xfrm>
        <a:graphic>
          <a:graphicData uri="http://schemas.openxmlformats.org/drawingml/2006/table">
            <a:tbl>
              <a:tblPr firstRow="1" bandRow="1">
                <a:tableStyleId>{21E4AEA4-8DFA-4A89-87EB-49C32662AFE0}</a:tableStyleId>
              </a:tblPr>
              <a:tblGrid>
                <a:gridCol w="2238504">
                  <a:extLst>
                    <a:ext uri="{9D8B030D-6E8A-4147-A177-3AD203B41FA5}">
                      <a16:colId xmlns:a16="http://schemas.microsoft.com/office/drawing/2014/main" val="3923008908"/>
                    </a:ext>
                  </a:extLst>
                </a:gridCol>
                <a:gridCol w="2668985">
                  <a:extLst>
                    <a:ext uri="{9D8B030D-6E8A-4147-A177-3AD203B41FA5}">
                      <a16:colId xmlns:a16="http://schemas.microsoft.com/office/drawing/2014/main" val="1588910781"/>
                    </a:ext>
                  </a:extLst>
                </a:gridCol>
                <a:gridCol w="2125220">
                  <a:extLst>
                    <a:ext uri="{9D8B030D-6E8A-4147-A177-3AD203B41FA5}">
                      <a16:colId xmlns:a16="http://schemas.microsoft.com/office/drawing/2014/main" val="2611791455"/>
                    </a:ext>
                  </a:extLst>
                </a:gridCol>
              </a:tblGrid>
              <a:tr h="1737991">
                <a:tc>
                  <a:txBody>
                    <a:bodyPr/>
                    <a:lstStyle/>
                    <a:p>
                      <a:r>
                        <a:rPr lang="en-US" sz="2900" dirty="0"/>
                        <a:t>Metric</a:t>
                      </a:r>
                      <a:endParaRPr lang="en-IL" sz="2900" dirty="0"/>
                    </a:p>
                  </a:txBody>
                  <a:tcPr marL="144992" marR="144992" marT="72496" marB="72496"/>
                </a:tc>
                <a:tc>
                  <a:txBody>
                    <a:bodyPr/>
                    <a:lstStyle/>
                    <a:p>
                      <a:r>
                        <a:rPr lang="en-US" sz="2900" dirty="0"/>
                        <a:t>Random Forest (Optimized)</a:t>
                      </a:r>
                      <a:endParaRPr lang="en-IL" sz="2900" dirty="0"/>
                    </a:p>
                  </a:txBody>
                  <a:tcPr marL="144992" marR="144992" marT="72496" marB="72496"/>
                </a:tc>
                <a:tc>
                  <a:txBody>
                    <a:bodyPr/>
                    <a:lstStyle/>
                    <a:p>
                      <a:r>
                        <a:rPr lang="en-US" sz="2900" dirty="0"/>
                        <a:t>Random Forest </a:t>
                      </a:r>
                    </a:p>
                    <a:p>
                      <a:r>
                        <a:rPr lang="en-US" sz="2900" dirty="0"/>
                        <a:t>(Baseline)</a:t>
                      </a:r>
                    </a:p>
                    <a:p>
                      <a:endParaRPr lang="en-IL" sz="2900" dirty="0"/>
                    </a:p>
                  </a:txBody>
                  <a:tcPr marL="144992" marR="144992" marT="72496" marB="72496"/>
                </a:tc>
                <a:extLst>
                  <a:ext uri="{0D108BD9-81ED-4DB2-BD59-A6C34878D82A}">
                    <a16:rowId xmlns:a16="http://schemas.microsoft.com/office/drawing/2014/main" val="4279815739"/>
                  </a:ext>
                </a:extLst>
              </a:tr>
              <a:tr h="533302">
                <a:tc>
                  <a:txBody>
                    <a:bodyPr/>
                    <a:lstStyle/>
                    <a:p>
                      <a:r>
                        <a:rPr lang="en-US" sz="2900"/>
                        <a:t>Precision</a:t>
                      </a:r>
                      <a:endParaRPr lang="en-IL" sz="2900"/>
                    </a:p>
                  </a:txBody>
                  <a:tcPr marL="144992" marR="144992" marT="72496" marB="72496"/>
                </a:tc>
                <a:tc>
                  <a:txBody>
                    <a:bodyPr/>
                    <a:lstStyle/>
                    <a:p>
                      <a:r>
                        <a:rPr lang="en-US" sz="2900" dirty="0"/>
                        <a:t>81%</a:t>
                      </a:r>
                      <a:endParaRPr lang="en-IL" sz="2900" dirty="0"/>
                    </a:p>
                  </a:txBody>
                  <a:tcPr marL="144992" marR="144992" marT="72496" marB="72496"/>
                </a:tc>
                <a:tc>
                  <a:txBody>
                    <a:bodyPr/>
                    <a:lstStyle/>
                    <a:p>
                      <a:r>
                        <a:rPr lang="en-US" sz="2900" dirty="0"/>
                        <a:t>67%</a:t>
                      </a:r>
                    </a:p>
                  </a:txBody>
                  <a:tcPr marL="144992" marR="144992" marT="72496" marB="72496"/>
                </a:tc>
                <a:extLst>
                  <a:ext uri="{0D108BD9-81ED-4DB2-BD59-A6C34878D82A}">
                    <a16:rowId xmlns:a16="http://schemas.microsoft.com/office/drawing/2014/main" val="3848303707"/>
                  </a:ext>
                </a:extLst>
              </a:tr>
              <a:tr h="533302">
                <a:tc>
                  <a:txBody>
                    <a:bodyPr/>
                    <a:lstStyle/>
                    <a:p>
                      <a:r>
                        <a:rPr lang="en-US" sz="2900"/>
                        <a:t>Recall</a:t>
                      </a:r>
                      <a:endParaRPr lang="en-IL" sz="2900"/>
                    </a:p>
                  </a:txBody>
                  <a:tcPr marL="144992" marR="144992" marT="72496" marB="72496"/>
                </a:tc>
                <a:tc>
                  <a:txBody>
                    <a:bodyPr/>
                    <a:lstStyle/>
                    <a:p>
                      <a:r>
                        <a:rPr lang="en-US" sz="2900" dirty="0"/>
                        <a:t>16%</a:t>
                      </a:r>
                      <a:endParaRPr lang="en-IL" sz="2900" dirty="0"/>
                    </a:p>
                  </a:txBody>
                  <a:tcPr marL="144992" marR="144992" marT="72496" marB="72496"/>
                </a:tc>
                <a:tc>
                  <a:txBody>
                    <a:bodyPr/>
                    <a:lstStyle/>
                    <a:p>
                      <a:r>
                        <a:rPr lang="en-US" sz="2900" dirty="0"/>
                        <a:t>44%</a:t>
                      </a:r>
                      <a:endParaRPr lang="en-IL" sz="2900" dirty="0"/>
                    </a:p>
                  </a:txBody>
                  <a:tcPr marL="144992" marR="144992" marT="72496" marB="72496"/>
                </a:tc>
                <a:extLst>
                  <a:ext uri="{0D108BD9-81ED-4DB2-BD59-A6C34878D82A}">
                    <a16:rowId xmlns:a16="http://schemas.microsoft.com/office/drawing/2014/main" val="3866086810"/>
                  </a:ext>
                </a:extLst>
              </a:tr>
              <a:tr h="533302">
                <a:tc>
                  <a:txBody>
                    <a:bodyPr/>
                    <a:lstStyle/>
                    <a:p>
                      <a:r>
                        <a:rPr lang="en-US" sz="2900" dirty="0"/>
                        <a:t>Roc-</a:t>
                      </a:r>
                      <a:r>
                        <a:rPr lang="en-US" sz="2900" dirty="0" err="1"/>
                        <a:t>Auc</a:t>
                      </a:r>
                      <a:endParaRPr lang="en-IL" sz="2900" dirty="0"/>
                    </a:p>
                  </a:txBody>
                  <a:tcPr marL="144992" marR="144992" marT="72496" marB="72496"/>
                </a:tc>
                <a:tc>
                  <a:txBody>
                    <a:bodyPr/>
                    <a:lstStyle/>
                    <a:p>
                      <a:r>
                        <a:rPr lang="en-US" sz="2900" dirty="0"/>
                        <a:t>0.57</a:t>
                      </a:r>
                      <a:endParaRPr lang="en-IL" sz="2900" dirty="0"/>
                    </a:p>
                  </a:txBody>
                  <a:tcPr marL="144992" marR="144992" marT="72496" marB="72496"/>
                </a:tc>
                <a:tc>
                  <a:txBody>
                    <a:bodyPr/>
                    <a:lstStyle/>
                    <a:p>
                      <a:r>
                        <a:rPr lang="en-US" sz="2900" dirty="0"/>
                        <a:t>0.66</a:t>
                      </a:r>
                      <a:endParaRPr lang="en-IL" sz="2900" dirty="0"/>
                    </a:p>
                  </a:txBody>
                  <a:tcPr marL="144992" marR="144992" marT="72496" marB="72496"/>
                </a:tc>
                <a:extLst>
                  <a:ext uri="{0D108BD9-81ED-4DB2-BD59-A6C34878D82A}">
                    <a16:rowId xmlns:a16="http://schemas.microsoft.com/office/drawing/2014/main" val="4225219571"/>
                  </a:ext>
                </a:extLst>
              </a:tr>
            </a:tbl>
          </a:graphicData>
        </a:graphic>
      </p:graphicFrame>
      <p:pic>
        <p:nvPicPr>
          <p:cNvPr id="7" name="תמונה 6">
            <a:extLst>
              <a:ext uri="{FF2B5EF4-FFF2-40B4-BE49-F238E27FC236}">
                <a16:creationId xmlns:a16="http://schemas.microsoft.com/office/drawing/2014/main" id="{956BE4DE-8C40-F3AB-81B8-D42CDE5FEA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1639" y="3903406"/>
            <a:ext cx="7032709" cy="29545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458884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lumMod val="95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6C34A-5B1A-C123-999A-1BE64E4A10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31136" y="964692"/>
            <a:ext cx="7729728" cy="1188720"/>
          </a:xfrm>
        </p:spPr>
        <p:txBody>
          <a:bodyPr>
            <a:normAutofit/>
          </a:bodyPr>
          <a:lstStyle/>
          <a:p>
            <a:r>
              <a:rPr lang="en-US" dirty="0"/>
              <a:t>Risk &amp; Limitations</a:t>
            </a:r>
            <a:endParaRPr lang="en-IL" dirty="0"/>
          </a:p>
        </p:txBody>
      </p:sp>
      <p:graphicFrame>
        <p:nvGraphicFramePr>
          <p:cNvPr id="5" name="Content Placeholder 2">
            <a:extLst>
              <a:ext uri="{FF2B5EF4-FFF2-40B4-BE49-F238E27FC236}">
                <a16:creationId xmlns:a16="http://schemas.microsoft.com/office/drawing/2014/main" id="{124499EE-9EDD-92DC-C227-4F6B1ECF4AA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959101207"/>
              </p:ext>
            </p:extLst>
          </p:nvPr>
        </p:nvGraphicFramePr>
        <p:xfrm>
          <a:off x="965200" y="2638425"/>
          <a:ext cx="10261600" cy="3107748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93077653"/>
      </p:ext>
    </p:extLst>
  </p:cSld>
  <p:clrMapOvr>
    <a:masterClrMapping/>
  </p:clrMapOvr>
</p:sld>
</file>

<file path=ppt/theme/theme1.xml><?xml version="1.0" encoding="utf-8"?>
<a:theme xmlns:a="http://schemas.openxmlformats.org/drawingml/2006/main" name="Parcel">
  <a:themeElements>
    <a:clrScheme name="Parcel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F6A21D"/>
      </a:accent1>
      <a:accent2>
        <a:srgbClr val="9BAFB5"/>
      </a:accent2>
      <a:accent3>
        <a:srgbClr val="C96731"/>
      </a:accent3>
      <a:accent4>
        <a:srgbClr val="9CA383"/>
      </a:accent4>
      <a:accent5>
        <a:srgbClr val="87795D"/>
      </a:accent5>
      <a:accent6>
        <a:srgbClr val="A0988C"/>
      </a:accent6>
      <a:hlink>
        <a:srgbClr val="00B0F0"/>
      </a:hlink>
      <a:folHlink>
        <a:srgbClr val="738F97"/>
      </a:folHlink>
    </a:clrScheme>
    <a:fontScheme name="Parcel">
      <a:maj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Grek" typeface="Corbel"/>
        <a:font script="Cyrl" typeface="Corbel"/>
        <a:font script="Jpan" typeface="HGｺﾞｼｯｸE"/>
        <a:font script="Hang" typeface="휴먼매직체"/>
        <a:font script="Hans" typeface="华文中宋"/>
        <a:font script="Hant" typeface="微軟正黑體"/>
        <a:font script="Arab" typeface="Majalla UI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Parcel">
      <a:fillStyleLst>
        <a:solidFill>
          <a:schemeClr val="phClr"/>
        </a:solidFill>
        <a:gradFill rotWithShape="1">
          <a:gsLst>
            <a:gs pos="0">
              <a:schemeClr val="phClr">
                <a:tint val="80000"/>
                <a:satMod val="107000"/>
                <a:lumMod val="103000"/>
              </a:schemeClr>
            </a:gs>
            <a:gs pos="100000">
              <a:schemeClr val="phClr">
                <a:tint val="82000"/>
                <a:satMod val="109000"/>
                <a:lumMod val="103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7000"/>
                <a:satMod val="100000"/>
                <a:lumMod val="102000"/>
              </a:schemeClr>
            </a:gs>
            <a:gs pos="50000">
              <a:schemeClr val="phClr">
                <a:shade val="100000"/>
                <a:satMod val="103000"/>
                <a:lumMod val="100000"/>
              </a:schemeClr>
            </a:gs>
            <a:gs pos="100000">
              <a:schemeClr val="phClr">
                <a:shade val="93000"/>
                <a:satMod val="11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317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5880" dist="1524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brightRoom" dir="tl"/>
          </a:scene3d>
          <a:sp3d prstMaterial="dkEdge">
            <a:bevelT w="0" h="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7000"/>
                <a:shade val="100000"/>
                <a:satMod val="185000"/>
                <a:lumMod val="120000"/>
              </a:schemeClr>
            </a:gs>
            <a:gs pos="100000">
              <a:schemeClr val="phClr">
                <a:tint val="96000"/>
                <a:shade val="95000"/>
                <a:satMod val="215000"/>
                <a:lumMod val="80000"/>
              </a:schemeClr>
            </a:gs>
          </a:gsLst>
          <a:path path="circle">
            <a:fillToRect l="50000" t="55000" r="125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arcel" id="{8BEC4385-4EB9-4D53-BFB5-0EA123736B6D}" vid="{4DB32801-28C0-48B0-8C1D-A9A58613615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TM10001115[[fn=Parcel]]</Template>
  <TotalTime>219</TotalTime>
  <Words>375</Words>
  <Application>Microsoft Office PowerPoint</Application>
  <PresentationFormat>מסך רחב</PresentationFormat>
  <Paragraphs>88</Paragraphs>
  <Slides>10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3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10</vt:i4>
      </vt:variant>
    </vt:vector>
  </HeadingPairs>
  <TitlesOfParts>
    <vt:vector size="14" baseType="lpstr">
      <vt:lpstr>Aptos</vt:lpstr>
      <vt:lpstr>Arial</vt:lpstr>
      <vt:lpstr>Gill Sans MT</vt:lpstr>
      <vt:lpstr>Parcel</vt:lpstr>
      <vt:lpstr>Precision-Based Investment Selection Framework</vt:lpstr>
      <vt:lpstr>Our Clients</vt:lpstr>
      <vt:lpstr>Base line</vt:lpstr>
      <vt:lpstr>Strategic Mandate</vt:lpstr>
      <vt:lpstr>Decision Pipeline</vt:lpstr>
      <vt:lpstr>Data Integrity &amp; Stability</vt:lpstr>
      <vt:lpstr>Primary Business Signals</vt:lpstr>
      <vt:lpstr>Model Selection Table</vt:lpstr>
      <vt:lpstr>Performance Summary</vt:lpstr>
      <vt:lpstr>Risk &amp; Limitations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Eitan Venzhik</dc:creator>
  <cp:lastModifiedBy>Erez Grinberg</cp:lastModifiedBy>
  <cp:revision>10</cp:revision>
  <dcterms:created xsi:type="dcterms:W3CDTF">2026-05-11T03:27:56Z</dcterms:created>
  <dcterms:modified xsi:type="dcterms:W3CDTF">2026-05-12T20:20:16Z</dcterms:modified>
</cp:coreProperties>
</file>